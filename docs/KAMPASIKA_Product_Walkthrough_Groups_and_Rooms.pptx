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  <Relationship Id="rId2" Type="http://schemas.openxmlformats.org/package/2006/relationships/metadata/core-properties" Target="docProps/core.xml"/>
  <Relationship Id="rId3" Type="http://schemas.openxmlformats.org/officeDocument/2006/relationships/extended-properties" Target="docProps/app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1"/>
  </p:sldMasterIdLst>
  <p:sldIdLst>
    <p:sldId id="256" r:id="rId1"/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</p:sldIdLst>
  <p:sldSz cx="12191695" cy="6858000" type="wide"/>
  <p:notesSz cx="6858000" cy="9144000"/>
</p:presentation>
</file>

<file path=ppt/presProps.xml><?xml version="1.0" encoding="utf-8"?>
<p:presentationPr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/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" Target="slides/slide1.xml"/>
<Relationship Id="rId2" Type="http://schemas.openxmlformats.org/officeDocument/2006/relationships/slide" Target="slides/slide2.xml"/>
<Relationship Id="rId3" Type="http://schemas.openxmlformats.org/officeDocument/2006/relationships/slide" Target="slides/slide3.xml"/>
<Relationship Id="rId4" Type="http://schemas.openxmlformats.org/officeDocument/2006/relationships/slide" Target="slides/slide4.xml"/>
<Relationship Id="rId5" Type="http://schemas.openxmlformats.org/officeDocument/2006/relationships/slide" Target="slides/slide5.xml"/>
<Relationship Id="rId6" Type="http://schemas.openxmlformats.org/officeDocument/2006/relationships/slide" Target="slides/slide6.xml"/>
<Relationship Id="rId7" Type="http://schemas.openxmlformats.org/officeDocument/2006/relationships/slide" Target="slides/slide7.xml"/>
<Relationship Id="rId8" Type="http://schemas.openxmlformats.org/officeDocument/2006/relationships/slide" Target="slides/slide8.xml"/>
<Relationship Id="rId9" Type="http://schemas.openxmlformats.org/officeDocument/2006/relationships/slide" Target="slides/slide9.xml"/>
<Relationship Id="rId10" Type="http://schemas.openxmlformats.org/officeDocument/2006/relationships/slide" Target="slides/slide10.xml"/>
  <Relationship Id="rId11" Type="http://schemas.openxmlformats.org/officeDocument/2006/relationships/slideMaster" Target="slideMasters/slideMaster1.xml"/>
  <Relationship Id="rId12" Type="http://schemas.openxmlformats.org/officeDocument/2006/relationships/theme" Target="theme/theme1.xml"/>
  <Relationship Id="rId13" Type="http://schemas.openxmlformats.org/officeDocument/2006/relationships/presProps" Target="presProps.xml"/>
  <Relationship Id="rId14" Type="http://schemas.openxmlformats.org/officeDocument/2006/relationships/viewProps" Target="viewProps.xml"/>
  <Relationship Id="rId15" Type="http://schemas.openxmlformats.org/officeDocument/2006/relationships/tableStyles" Target="tableStyles.xml"/>
</Relationships>
</file>

<file path=ppt/slideLayouts/_rels/slideLayout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theme" Target="../theme/theme1.xml"/>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6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7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8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9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10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C"/>
          </a:solidFill>
          <a:ln>
            <a:noFill/>
          </a:ln>
        </p:spPr>
      </p:sp>
      <p:sp>
        <p:nvSpPr>
          <p:cNvPr id="3" name="Shape 3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F1B2D"/>
          </a:solidFill>
          <a:ln>
            <a:noFill/>
          </a:ln>
        </p:spPr>
      </p:sp>
      <p:sp>
        <p:nvSpPr>
          <p:cNvPr id="4" name="Text 4"/>
          <p:cNvSpPr txBox="1"/>
          <p:nvPr/>
        </p:nvSpPr>
        <p:spPr>
          <a:xfrm>
            <a:off x="685800" y="256032"/>
            <a:ext cx="36576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>
              <a:buNone/>
            </a:pPr>
            <a:r>
              <a:rPr lang="en-US" sz="1600" b="1">
                <a:solidFill>
                  <a:srgbClr val="06D6C7"/>
                </a:solidFill>
              </a:rPr>
              <a:t>KAMPASIKA</a:t>
            </a:r>
            <a:endParaRPr lang="en-US" sz="1600"/>
          </a:p>
        </p:txBody>
      </p:sp>
      <p:sp>
        <p:nvSpPr>
          <p:cNvPr id="5" name="Text 5"/>
          <p:cNvSpPr txBox="1"/>
          <p:nvPr/>
        </p:nvSpPr>
        <p:spPr>
          <a:xfrm>
            <a:off x="685800" y="1828800"/>
            <a:ext cx="7955279" cy="1097280"/>
          </a:xfrm>
          <a:prstGeom prst="rect">
            <a:avLst/>
          </a:prstGeom>
          <a:noFill/>
        </p:spPr>
        <p:txBody>
          <a:bodyPr wrap="square" anchor="t"/>
          <a:lstStyle/>
          <a:p>
            <a:pPr>
              <a:buNone/>
            </a:pPr>
            <a:r>
              <a:rPr lang="en-US" sz="4200" b="1">
                <a:solidFill>
                  <a:srgbClr val="0F1B2D"/>
                </a:solidFill>
              </a:rPr>
              <a:t>KAMPASIKA: campus groups that coordinate better than WhatsApp</a:t>
            </a:r>
            <a:endParaRPr lang="en-US" sz="4200"/>
          </a:p>
        </p:txBody>
      </p:sp>
      <p:sp>
        <p:nvSpPr>
          <p:cNvPr id="6" name="Text 6"/>
          <p:cNvSpPr txBox="1"/>
          <p:nvPr/>
        </p:nvSpPr>
        <p:spPr>
          <a:xfrm>
            <a:off x="749808" y="2971800"/>
            <a:ext cx="6217920" cy="731520"/>
          </a:xfrm>
          <a:prstGeom prst="rect">
            <a:avLst/>
          </a:prstGeom>
          <a:noFill/>
        </p:spPr>
        <p:txBody>
          <a:bodyPr wrap="square" anchor="t"/>
          <a:lstStyle/>
          <a:p>
            <a:pPr>
              <a:buNone/>
            </a:pPr>
            <a:r>
              <a:rPr lang="en-US" sz="2200">
                <a:solidFill>
                  <a:srgbClr val="486171"/>
                </a:solidFill>
              </a:rPr>
              <a:t>A student-first app for group money, events, files, members, and room discovery.</a:t>
            </a:r>
            <a:endParaRPr lang="en-US" sz="2200"/>
          </a:p>
        </p:txBody>
      </p:sp>
      <p:sp>
        <p:nvSpPr>
          <p:cNvPr id="7" name="Shape 7"/>
          <p:cNvSpPr/>
          <p:nvPr/>
        </p:nvSpPr>
        <p:spPr>
          <a:xfrm>
            <a:off x="7635240" y="1828800"/>
            <a:ext cx="3383280" cy="2834640"/>
          </a:xfrm>
          <a:prstGeom prst="roundRect">
            <a:avLst/>
          </a:prstGeom>
          <a:solidFill>
            <a:srgbClr val="0D9488"/>
          </a:solidFill>
          <a:ln>
            <a:noFill/>
          </a:ln>
        </p:spPr>
      </p:sp>
      <p:sp>
        <p:nvSpPr>
          <p:cNvPr id="8" name="Text 8"/>
          <p:cNvSpPr txBox="1"/>
          <p:nvPr/>
        </p:nvSpPr>
        <p:spPr>
          <a:xfrm>
            <a:off x="7973568" y="2176272"/>
            <a:ext cx="274320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>
              <a:buNone/>
            </a:pPr>
            <a:r>
              <a:rPr lang="en-US" sz="2200" b="1">
                <a:solidFill>
                  <a:srgbClr val="FFFFFF"/>
                </a:solidFill>
              </a:rPr>
              <a:t>Campus groups</a:t>
            </a:r>
            <a:endParaRPr lang="en-US" sz="2200"/>
          </a:p>
        </p:txBody>
      </p:sp>
      <p:sp>
        <p:nvSpPr>
          <p:cNvPr id="9" name="Text 9"/>
          <p:cNvSpPr txBox="1"/>
          <p:nvPr/>
        </p:nvSpPr>
        <p:spPr>
          <a:xfrm>
            <a:off x="7973568" y="2697480"/>
            <a:ext cx="2651760" cy="1234440"/>
          </a:xfrm>
          <a:prstGeom prst="rect">
            <a:avLst/>
          </a:prstGeom>
          <a:noFill/>
        </p:spPr>
        <p:txBody>
          <a:bodyPr wrap="square" anchor="t"/>
          <a:lstStyle/>
          <a:p>
            <a:pPr marL="342900" indent="-171450">
              <a:buChar char="•"/>
            </a:pPr>
            <a:r>
              <a:rPr lang="en-US" sz="1800" b="1">
                <a:solidFill>
                  <a:srgbClr val="FFFFFF"/>
                </a:solidFill>
              </a:rPr>
              <a:t>Money</a:t>
            </a:r>
            <a:endParaRPr lang="en-US" sz="1800"/>
          </a:p>
          <a:p>
            <a:pPr marL="342900" indent="-171450">
              <a:buChar char="•"/>
            </a:pPr>
            <a:r>
              <a:rPr lang="en-US" sz="1800" b="1">
                <a:solidFill>
                  <a:srgbClr val="FFFFFF"/>
                </a:solidFill>
              </a:rPr>
              <a:t>Events</a:t>
            </a:r>
            <a:endParaRPr lang="en-US" sz="1800"/>
          </a:p>
          <a:p>
            <a:pPr marL="342900" indent="-171450">
              <a:buChar char="•"/>
            </a:pPr>
            <a:r>
              <a:rPr lang="en-US" sz="1800" b="1">
                <a:solidFill>
                  <a:srgbClr val="FFFFFF"/>
                </a:solidFill>
              </a:rPr>
              <a:t>Files</a:t>
            </a:r>
            <a:endParaRPr lang="en-US" sz="1800"/>
          </a:p>
          <a:p>
            <a:pPr marL="342900" indent="-171450">
              <a:buChar char="•"/>
            </a:pPr>
            <a:r>
              <a:rPr lang="en-US" sz="1800" b="1">
                <a:solidFill>
                  <a:srgbClr val="FFFFFF"/>
                </a:solidFill>
              </a:rPr>
              <a:t>Members</a:t>
            </a:r>
            <a:endParaRPr lang="en-US" sz="1800"/>
          </a:p>
        </p:txBody>
      </p:sp>
      <p:sp>
        <p:nvSpPr>
          <p:cNvPr id="10" name="Text 10"/>
          <p:cNvSpPr txBox="1"/>
          <p:nvPr/>
        </p:nvSpPr>
        <p:spPr>
          <a:xfrm>
            <a:off x="749808" y="6217920"/>
            <a:ext cx="384048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>
              <a:buNone/>
            </a:pPr>
            <a:r>
              <a:rPr lang="en-US" sz="1300">
                <a:solidFill>
                  <a:srgbClr val="667085"/>
                </a:solidFill>
              </a:rPr>
              <a:t>Groups coordination + rooms discovery</a:t>
            </a:r>
            <a:endParaRPr lang="en-US" sz="13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C"/>
          </a:solidFill>
          <a:ln>
            <a:noFill/>
          </a:ln>
        </p:spPr>
      </p:sp>
      <p:sp>
        <p:nvSpPr>
          <p:cNvPr id="3" name="Text 3"/>
          <p:cNvSpPr txBox="1"/>
          <p:nvPr/>
        </p:nvSpPr>
        <p:spPr>
          <a:xfrm>
            <a:off x="594360" y="384048"/>
            <a:ext cx="822960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>
              <a:buNone/>
            </a:pPr>
            <a:r>
              <a:rPr lang="en-US" sz="2800" b="1">
                <a:solidFill>
                  <a:srgbClr val="0F1B2D"/>
                </a:solidFill>
              </a:rPr>
              <a:t>The Problem On Campus</a:t>
            </a:r>
            <a:endParaRPr lang="en-US" sz="2800"/>
          </a:p>
        </p:txBody>
      </p:sp>
      <p:sp>
        <p:nvSpPr>
          <p:cNvPr id="4" name="Shape 4"/>
          <p:cNvSpPr/>
          <p:nvPr/>
        </p:nvSpPr>
        <p:spPr>
          <a:xfrm>
            <a:off x="594360" y="1051560"/>
            <a:ext cx="1188720" cy="73152"/>
          </a:xfrm>
          <a:prstGeom prst="rect">
            <a:avLst/>
          </a:prstGeom>
          <a:solidFill>
            <a:srgbClr val="0D9488"/>
          </a:solidFill>
          <a:ln>
            <a:noFill/>
          </a:ln>
        </p:spPr>
      </p:sp>
      <p:sp>
        <p:nvSpPr>
          <p:cNvPr id="10" name="Shape 10"/>
          <p:cNvSpPr/>
          <p:nvPr/>
        </p:nvSpPr>
        <p:spPr>
          <a:xfrm>
            <a:off x="731520" y="1417320"/>
            <a:ext cx="10698480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</p:sp>
      <p:sp>
        <p:nvSpPr>
          <p:cNvPr id="11" name="Text 11"/>
          <p:cNvSpPr txBox="1"/>
          <p:nvPr/>
        </p:nvSpPr>
        <p:spPr>
          <a:xfrm>
            <a:off x="987552" y="1545336"/>
            <a:ext cx="27432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>
              <a:buNone/>
            </a:pPr>
            <a:r>
              <a:rPr lang="en-US" sz="1700" b="1">
                <a:solidFill>
                  <a:srgbClr val="0D9488"/>
                </a:solidFill>
              </a:rPr>
              <a:t>Group chats get noisy</a:t>
            </a:r>
            <a:endParaRPr lang="en-US" sz="1700"/>
          </a:p>
        </p:txBody>
      </p:sp>
      <p:sp>
        <p:nvSpPr>
          <p:cNvPr id="12" name="Text 12"/>
          <p:cNvSpPr txBox="1"/>
          <p:nvPr/>
        </p:nvSpPr>
        <p:spPr>
          <a:xfrm>
            <a:off x="3246120" y="1545336"/>
            <a:ext cx="768096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>
              <a:buNone/>
            </a:pPr>
            <a:r>
              <a:rPr lang="en-US" sz="1500">
                <a:solidFill>
                  <a:srgbClr val="344054"/>
                </a:solidFill>
              </a:rPr>
              <a:t>Important payment, event, and file updates disappear inside long chats.</a:t>
            </a:r>
            <a:endParaRPr lang="en-US" sz="1500"/>
          </a:p>
        </p:txBody>
      </p:sp>
      <p:sp>
        <p:nvSpPr>
          <p:cNvPr id="13" name="Shape 13"/>
          <p:cNvSpPr/>
          <p:nvPr/>
        </p:nvSpPr>
        <p:spPr>
          <a:xfrm>
            <a:off x="731520" y="2203704"/>
            <a:ext cx="10698480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</p:sp>
      <p:sp>
        <p:nvSpPr>
          <p:cNvPr id="14" name="Text 14"/>
          <p:cNvSpPr txBox="1"/>
          <p:nvPr/>
        </p:nvSpPr>
        <p:spPr>
          <a:xfrm>
            <a:off x="987552" y="2331720"/>
            <a:ext cx="27432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>
              <a:buNone/>
            </a:pPr>
            <a:r>
              <a:rPr lang="en-US" sz="1700" b="1">
                <a:solidFill>
                  <a:srgbClr val="0D9488"/>
                </a:solidFill>
              </a:rPr>
              <a:t>Money is hard to track</a:t>
            </a:r>
            <a:endParaRPr lang="en-US" sz="1700"/>
          </a:p>
        </p:txBody>
      </p:sp>
      <p:sp>
        <p:nvSpPr>
          <p:cNvPr id="15" name="Text 15"/>
          <p:cNvSpPr txBox="1"/>
          <p:nvPr/>
        </p:nvSpPr>
        <p:spPr>
          <a:xfrm>
            <a:off x="3246120" y="2331720"/>
            <a:ext cx="768096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>
              <a:buNone/>
            </a:pPr>
            <a:r>
              <a:rPr lang="en-US" sz="1500">
                <a:solidFill>
                  <a:srgbClr val="344054"/>
                </a:solidFill>
              </a:rPr>
              <a:t>Admins need to know who registered, who paid, and who is still pending.</a:t>
            </a:r>
            <a:endParaRPr lang="en-US" sz="1500"/>
          </a:p>
        </p:txBody>
      </p:sp>
      <p:sp>
        <p:nvSpPr>
          <p:cNvPr id="16" name="Shape 16"/>
          <p:cNvSpPr/>
          <p:nvPr/>
        </p:nvSpPr>
        <p:spPr>
          <a:xfrm>
            <a:off x="731520" y="2990088"/>
            <a:ext cx="10698480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</p:sp>
      <p:sp>
        <p:nvSpPr>
          <p:cNvPr id="17" name="Text 17"/>
          <p:cNvSpPr txBox="1"/>
          <p:nvPr/>
        </p:nvSpPr>
        <p:spPr>
          <a:xfrm>
            <a:off x="987552" y="3118104"/>
            <a:ext cx="27432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>
              <a:buNone/>
            </a:pPr>
            <a:r>
              <a:rPr lang="en-US" sz="1700" b="1">
                <a:solidFill>
                  <a:srgbClr val="0D9488"/>
                </a:solidFill>
              </a:rPr>
              <a:t>Files scatter everywhere</a:t>
            </a:r>
            <a:endParaRPr lang="en-US" sz="1700"/>
          </a:p>
        </p:txBody>
      </p:sp>
      <p:sp>
        <p:nvSpPr>
          <p:cNvPr id="18" name="Text 18"/>
          <p:cNvSpPr txBox="1"/>
          <p:nvPr/>
        </p:nvSpPr>
        <p:spPr>
          <a:xfrm>
            <a:off x="3246120" y="3118104"/>
            <a:ext cx="768096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>
              <a:buNone/>
            </a:pPr>
            <a:r>
              <a:rPr lang="en-US" sz="1500">
                <a:solidFill>
                  <a:srgbClr val="344054"/>
                </a:solidFill>
              </a:rPr>
              <a:t>Resources live in WhatsApp, Google Drive, screenshots, and old messages.</a:t>
            </a:r>
            <a:endParaRPr lang="en-US" sz="1500"/>
          </a:p>
        </p:txBody>
      </p:sp>
      <p:sp>
        <p:nvSpPr>
          <p:cNvPr id="19" name="Shape 19"/>
          <p:cNvSpPr/>
          <p:nvPr/>
        </p:nvSpPr>
        <p:spPr>
          <a:xfrm>
            <a:off x="731520" y="3776472"/>
            <a:ext cx="10698480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</p:sp>
      <p:sp>
        <p:nvSpPr>
          <p:cNvPr id="20" name="Text 20"/>
          <p:cNvSpPr txBox="1"/>
          <p:nvPr/>
        </p:nvSpPr>
        <p:spPr>
          <a:xfrm>
            <a:off x="987552" y="3904487"/>
            <a:ext cx="27432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>
              <a:buNone/>
            </a:pPr>
            <a:r>
              <a:rPr lang="en-US" sz="1700" b="1">
                <a:solidFill>
                  <a:srgbClr val="0D9488"/>
                </a:solidFill>
              </a:rPr>
              <a:t>Rooms need trust</a:t>
            </a:r>
            <a:endParaRPr lang="en-US" sz="1700"/>
          </a:p>
        </p:txBody>
      </p:sp>
      <p:sp>
        <p:nvSpPr>
          <p:cNvPr id="21" name="Text 21"/>
          <p:cNvSpPr txBox="1"/>
          <p:nvPr/>
        </p:nvSpPr>
        <p:spPr>
          <a:xfrm>
            <a:off x="3246120" y="3904487"/>
            <a:ext cx="768096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>
              <a:buNone/>
            </a:pPr>
            <a:r>
              <a:rPr lang="en-US" sz="1500">
                <a:solidFill>
                  <a:srgbClr val="344054"/>
                </a:solidFill>
              </a:rPr>
              <a:t>Students need clearer room information, photos, price, location, and landlord contact.</a:t>
            </a:r>
            <a:endParaRPr lang="en-US" sz="15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C"/>
          </a:solidFill>
          <a:ln>
            <a:noFill/>
          </a:ln>
        </p:spPr>
      </p:sp>
      <p:sp>
        <p:nvSpPr>
          <p:cNvPr id="3" name="Text 3"/>
          <p:cNvSpPr txBox="1"/>
          <p:nvPr/>
        </p:nvSpPr>
        <p:spPr>
          <a:xfrm>
            <a:off x="594360" y="384048"/>
            <a:ext cx="914400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>
              <a:buNone/>
            </a:pPr>
            <a:r>
              <a:rPr lang="en-US" sz="2800" b="1">
                <a:solidFill>
                  <a:srgbClr val="0F1B2D"/>
                </a:solidFill>
              </a:rPr>
              <a:t>Core Group Coordination Flow</a:t>
            </a:r>
            <a:endParaRPr lang="en-US" sz="2800"/>
          </a:p>
        </p:txBody>
      </p:sp>
      <p:sp>
        <p:nvSpPr>
          <p:cNvPr id="10" name="Shape 10"/>
          <p:cNvSpPr/>
          <p:nvPr/>
        </p:nvSpPr>
        <p:spPr>
          <a:xfrm>
            <a:off x="822960" y="2057400"/>
            <a:ext cx="205740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FEFEB"/>
            </a:solidFill>
          </a:ln>
        </p:spPr>
      </p:sp>
      <p:sp>
        <p:nvSpPr>
          <p:cNvPr id="20" name="Text 20"/>
          <p:cNvSpPr txBox="1"/>
          <p:nvPr/>
        </p:nvSpPr>
        <p:spPr>
          <a:xfrm>
            <a:off x="987552" y="2221992"/>
            <a:ext cx="50292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>
              <a:buNone/>
            </a:pPr>
            <a:r>
              <a:rPr lang="en-US" sz="1800" b="1">
                <a:solidFill>
                  <a:srgbClr val="0D9488"/>
                </a:solidFill>
              </a:rPr>
              <a:t>1</a:t>
            </a:r>
            <a:endParaRPr lang="en-US" sz="1800"/>
          </a:p>
        </p:txBody>
      </p:sp>
      <p:sp>
        <p:nvSpPr>
          <p:cNvPr id="30" name="Text 30"/>
          <p:cNvSpPr txBox="1"/>
          <p:nvPr/>
        </p:nvSpPr>
        <p:spPr>
          <a:xfrm>
            <a:off x="987552" y="2587752"/>
            <a:ext cx="1728216" cy="594360"/>
          </a:xfrm>
          <a:prstGeom prst="rect">
            <a:avLst/>
          </a:prstGeom>
          <a:noFill/>
        </p:spPr>
        <p:txBody>
          <a:bodyPr wrap="square" anchor="t"/>
          <a:lstStyle/>
          <a:p>
            <a:pPr>
              <a:buNone/>
            </a:pPr>
            <a:r>
              <a:rPr lang="en-US" sz="1600" b="1">
                <a:solidFill>
                  <a:srgbClr val="0F1B2D"/>
                </a:solidFill>
              </a:rPr>
              <a:t>Create or join a campus group</a:t>
            </a:r>
            <a:endParaRPr lang="en-US" sz="1600"/>
          </a:p>
        </p:txBody>
      </p:sp>
      <p:cxnSp>
        <p:nvCxnSpPr>
          <p:cNvPr id="40" name="Line 40"/>
          <p:cNvCxnSpPr/>
          <p:nvPr/>
        </p:nvCxnSpPr>
        <p:spPr>
          <a:xfrm>
            <a:off x="2880360" y="2770632"/>
            <a:ext cx="274319" cy="0"/>
          </a:xfrm>
          <a:prstGeom prst="line">
            <a:avLst/>
          </a:prstGeom>
          <a:ln w="25400">
            <a:solidFill>
              <a:srgbClr val="06D6C7"/>
            </a:solidFill>
          </a:ln>
        </p:spPr>
      </p:cxnSp>
      <p:sp>
        <p:nvSpPr>
          <p:cNvPr id="11" name="Shape 11"/>
          <p:cNvSpPr/>
          <p:nvPr/>
        </p:nvSpPr>
        <p:spPr>
          <a:xfrm>
            <a:off x="3154679" y="2057400"/>
            <a:ext cx="205740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FEFEB"/>
            </a:solidFill>
          </a:ln>
        </p:spPr>
      </p:sp>
      <p:sp>
        <p:nvSpPr>
          <p:cNvPr id="21" name="Text 21"/>
          <p:cNvSpPr txBox="1"/>
          <p:nvPr/>
        </p:nvSpPr>
        <p:spPr>
          <a:xfrm>
            <a:off x="3319272" y="2221992"/>
            <a:ext cx="50292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>
              <a:buNone/>
            </a:pPr>
            <a:r>
              <a:rPr lang="en-US" sz="1800" b="1">
                <a:solidFill>
                  <a:srgbClr val="0D9488"/>
                </a:solidFill>
              </a:rPr>
              <a:t>2</a:t>
            </a:r>
            <a:endParaRPr lang="en-US" sz="1800"/>
          </a:p>
        </p:txBody>
      </p:sp>
      <p:sp>
        <p:nvSpPr>
          <p:cNvPr id="31" name="Text 31"/>
          <p:cNvSpPr txBox="1"/>
          <p:nvPr/>
        </p:nvSpPr>
        <p:spPr>
          <a:xfrm>
            <a:off x="3319272" y="2587752"/>
            <a:ext cx="1728216" cy="594360"/>
          </a:xfrm>
          <a:prstGeom prst="rect">
            <a:avLst/>
          </a:prstGeom>
          <a:noFill/>
        </p:spPr>
        <p:txBody>
          <a:bodyPr wrap="square" anchor="t"/>
          <a:lstStyle/>
          <a:p>
            <a:pPr>
              <a:buNone/>
            </a:pPr>
            <a:r>
              <a:rPr lang="en-US" sz="1600" b="1">
                <a:solidFill>
                  <a:srgbClr val="0F1B2D"/>
                </a:solidFill>
              </a:rPr>
              <a:t>Post updates and resources</a:t>
            </a:r>
            <a:endParaRPr lang="en-US" sz="1600"/>
          </a:p>
        </p:txBody>
      </p:sp>
      <p:cxnSp>
        <p:nvCxnSpPr>
          <p:cNvPr id="41" name="Line 41"/>
          <p:cNvCxnSpPr/>
          <p:nvPr/>
        </p:nvCxnSpPr>
        <p:spPr>
          <a:xfrm>
            <a:off x="5212079" y="2770632"/>
            <a:ext cx="274319" cy="0"/>
          </a:xfrm>
          <a:prstGeom prst="line">
            <a:avLst/>
          </a:prstGeom>
          <a:ln w="25400">
            <a:solidFill>
              <a:srgbClr val="06D6C7"/>
            </a:solidFill>
          </a:ln>
        </p:spPr>
      </p:cxnSp>
      <p:sp>
        <p:nvSpPr>
          <p:cNvPr id="12" name="Shape 12"/>
          <p:cNvSpPr/>
          <p:nvPr/>
        </p:nvSpPr>
        <p:spPr>
          <a:xfrm>
            <a:off x="5486400" y="2057400"/>
            <a:ext cx="205740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FEFEB"/>
            </a:solidFill>
          </a:ln>
        </p:spPr>
      </p:sp>
      <p:sp>
        <p:nvSpPr>
          <p:cNvPr id="22" name="Text 22"/>
          <p:cNvSpPr txBox="1"/>
          <p:nvPr/>
        </p:nvSpPr>
        <p:spPr>
          <a:xfrm>
            <a:off x="5650992" y="2221992"/>
            <a:ext cx="50292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>
              <a:buNone/>
            </a:pPr>
            <a:r>
              <a:rPr lang="en-US" sz="1800" b="1">
                <a:solidFill>
                  <a:srgbClr val="0D9488"/>
                </a:solidFill>
              </a:rPr>
              <a:t>3</a:t>
            </a:r>
            <a:endParaRPr lang="en-US" sz="1800"/>
          </a:p>
        </p:txBody>
      </p:sp>
      <p:sp>
        <p:nvSpPr>
          <p:cNvPr id="32" name="Text 32"/>
          <p:cNvSpPr txBox="1"/>
          <p:nvPr/>
        </p:nvSpPr>
        <p:spPr>
          <a:xfrm>
            <a:off x="5650992" y="2587752"/>
            <a:ext cx="1728216" cy="594360"/>
          </a:xfrm>
          <a:prstGeom prst="rect">
            <a:avLst/>
          </a:prstGeom>
          <a:noFill/>
        </p:spPr>
        <p:txBody>
          <a:bodyPr wrap="square" anchor="t"/>
          <a:lstStyle/>
          <a:p>
            <a:pPr>
              <a:buNone/>
            </a:pPr>
            <a:r>
              <a:rPr lang="en-US" sz="1600" b="1">
                <a:solidFill>
                  <a:srgbClr val="0F1B2D"/>
                </a:solidFill>
              </a:rPr>
              <a:t>Create event or contribution</a:t>
            </a:r>
            <a:endParaRPr lang="en-US" sz="1600"/>
          </a:p>
        </p:txBody>
      </p:sp>
      <p:cxnSp>
        <p:nvCxnSpPr>
          <p:cNvPr id="42" name="Line 42"/>
          <p:cNvCxnSpPr/>
          <p:nvPr/>
        </p:nvCxnSpPr>
        <p:spPr>
          <a:xfrm>
            <a:off x="7543800" y="2770632"/>
            <a:ext cx="274320" cy="0"/>
          </a:xfrm>
          <a:prstGeom prst="line">
            <a:avLst/>
          </a:prstGeom>
          <a:ln w="25400">
            <a:solidFill>
              <a:srgbClr val="06D6C7"/>
            </a:solidFill>
          </a:ln>
        </p:spPr>
      </p:cxnSp>
      <p:sp>
        <p:nvSpPr>
          <p:cNvPr id="13" name="Shape 13"/>
          <p:cNvSpPr/>
          <p:nvPr/>
        </p:nvSpPr>
        <p:spPr>
          <a:xfrm>
            <a:off x="7818119" y="2057400"/>
            <a:ext cx="205740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FEFEB"/>
            </a:solidFill>
          </a:ln>
        </p:spPr>
      </p:sp>
      <p:sp>
        <p:nvSpPr>
          <p:cNvPr id="23" name="Text 23"/>
          <p:cNvSpPr txBox="1"/>
          <p:nvPr/>
        </p:nvSpPr>
        <p:spPr>
          <a:xfrm>
            <a:off x="7982711" y="2221992"/>
            <a:ext cx="50292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>
              <a:buNone/>
            </a:pPr>
            <a:r>
              <a:rPr lang="en-US" sz="1800" b="1">
                <a:solidFill>
                  <a:srgbClr val="0D9488"/>
                </a:solidFill>
              </a:rPr>
              <a:t>4</a:t>
            </a:r>
            <a:endParaRPr lang="en-US" sz="1800"/>
          </a:p>
        </p:txBody>
      </p:sp>
      <p:sp>
        <p:nvSpPr>
          <p:cNvPr id="33" name="Text 33"/>
          <p:cNvSpPr txBox="1"/>
          <p:nvPr/>
        </p:nvSpPr>
        <p:spPr>
          <a:xfrm>
            <a:off x="7982711" y="2587752"/>
            <a:ext cx="1728216" cy="594360"/>
          </a:xfrm>
          <a:prstGeom prst="rect">
            <a:avLst/>
          </a:prstGeom>
          <a:noFill/>
        </p:spPr>
        <p:txBody>
          <a:bodyPr wrap="square" anchor="t"/>
          <a:lstStyle/>
          <a:p>
            <a:pPr>
              <a:buNone/>
            </a:pPr>
            <a:r>
              <a:rPr lang="en-US" sz="1600" b="1">
                <a:solidFill>
                  <a:srgbClr val="0F1B2D"/>
                </a:solidFill>
              </a:rPr>
              <a:t>Members register or submit proof</a:t>
            </a:r>
            <a:endParaRPr lang="en-US" sz="1600"/>
          </a:p>
        </p:txBody>
      </p:sp>
      <p:cxnSp>
        <p:nvCxnSpPr>
          <p:cNvPr id="43" name="Line 43"/>
          <p:cNvCxnSpPr/>
          <p:nvPr/>
        </p:nvCxnSpPr>
        <p:spPr>
          <a:xfrm>
            <a:off x="9875519" y="2770632"/>
            <a:ext cx="274320" cy="0"/>
          </a:xfrm>
          <a:prstGeom prst="line">
            <a:avLst/>
          </a:prstGeom>
          <a:ln w="25400">
            <a:solidFill>
              <a:srgbClr val="06D6C7"/>
            </a:solidFill>
          </a:ln>
        </p:spPr>
      </p:cxnSp>
      <p:sp>
        <p:nvSpPr>
          <p:cNvPr id="14" name="Shape 14"/>
          <p:cNvSpPr/>
          <p:nvPr/>
        </p:nvSpPr>
        <p:spPr>
          <a:xfrm>
            <a:off x="10149840" y="2057400"/>
            <a:ext cx="205740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FEFEB"/>
            </a:solidFill>
          </a:ln>
        </p:spPr>
      </p:sp>
      <p:sp>
        <p:nvSpPr>
          <p:cNvPr id="24" name="Text 24"/>
          <p:cNvSpPr txBox="1"/>
          <p:nvPr/>
        </p:nvSpPr>
        <p:spPr>
          <a:xfrm>
            <a:off x="10314432" y="2221992"/>
            <a:ext cx="50292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>
              <a:buNone/>
            </a:pPr>
            <a:r>
              <a:rPr lang="en-US" sz="1800" b="1">
                <a:solidFill>
                  <a:srgbClr val="0D9488"/>
                </a:solidFill>
              </a:rPr>
              <a:t>5</a:t>
            </a:r>
            <a:endParaRPr lang="en-US" sz="1800"/>
          </a:p>
        </p:txBody>
      </p:sp>
      <p:sp>
        <p:nvSpPr>
          <p:cNvPr id="34" name="Text 34"/>
          <p:cNvSpPr txBox="1"/>
          <p:nvPr/>
        </p:nvSpPr>
        <p:spPr>
          <a:xfrm>
            <a:off x="10314432" y="2587752"/>
            <a:ext cx="1728216" cy="594360"/>
          </a:xfrm>
          <a:prstGeom prst="rect">
            <a:avLst/>
          </a:prstGeom>
          <a:noFill/>
        </p:spPr>
        <p:txBody>
          <a:bodyPr wrap="square" anchor="t"/>
          <a:lstStyle/>
          <a:p>
            <a:pPr>
              <a:buNone/>
            </a:pPr>
            <a:r>
              <a:rPr lang="en-US" sz="1600" b="1">
                <a:solidFill>
                  <a:srgbClr val="0F1B2D"/>
                </a:solidFill>
              </a:rPr>
              <a:t>Admin tracks progress</a:t>
            </a:r>
            <a:endParaRPr lang="en-US" sz="16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C"/>
          </a:solidFill>
          <a:ln>
            <a:noFill/>
          </a:ln>
        </p:spPr>
      </p:sp>
      <p:sp>
        <p:nvSpPr>
          <p:cNvPr id="3" name="Text 3"/>
          <p:cNvSpPr txBox="1"/>
          <p:nvPr/>
        </p:nvSpPr>
        <p:spPr>
          <a:xfrm>
            <a:off x="594360" y="384048"/>
            <a:ext cx="914400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>
              <a:buNone/>
            </a:pPr>
            <a:r>
              <a:rPr lang="en-US" sz="2800" b="1">
                <a:solidFill>
                  <a:srgbClr val="0F1B2D"/>
                </a:solidFill>
              </a:rPr>
              <a:t>Groups: What Members See vs What Admins Manage</a:t>
            </a:r>
            <a:endParaRPr lang="en-US" sz="2800"/>
          </a:p>
        </p:txBody>
      </p:sp>
      <p:sp>
        <p:nvSpPr>
          <p:cNvPr id="4" name="Shape 4"/>
          <p:cNvSpPr/>
          <p:nvPr/>
        </p:nvSpPr>
        <p:spPr>
          <a:xfrm>
            <a:off x="713232" y="1325880"/>
            <a:ext cx="5257800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</p:sp>
      <p:sp>
        <p:nvSpPr>
          <p:cNvPr id="5" name="Shape 5"/>
          <p:cNvSpPr/>
          <p:nvPr/>
        </p:nvSpPr>
        <p:spPr>
          <a:xfrm>
            <a:off x="6217920" y="1325880"/>
            <a:ext cx="5257800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</p:sp>
      <p:sp>
        <p:nvSpPr>
          <p:cNvPr id="6" name="Text 6"/>
          <p:cNvSpPr txBox="1"/>
          <p:nvPr/>
        </p:nvSpPr>
        <p:spPr>
          <a:xfrm>
            <a:off x="1024128" y="1627632"/>
            <a:ext cx="429768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>
              <a:buNone/>
            </a:pPr>
            <a:r>
              <a:rPr lang="en-US" sz="2100" b="1">
                <a:solidFill>
                  <a:srgbClr val="0D9488"/>
                </a:solidFill>
              </a:rPr>
              <a:t>Members</a:t>
            </a:r>
            <a:endParaRPr lang="en-US" sz="2100"/>
          </a:p>
        </p:txBody>
      </p:sp>
      <p:sp>
        <p:nvSpPr>
          <p:cNvPr id="7" name="Text 7"/>
          <p:cNvSpPr txBox="1"/>
          <p:nvPr/>
        </p:nvSpPr>
        <p:spPr>
          <a:xfrm>
            <a:off x="6528816" y="1627632"/>
            <a:ext cx="429768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>
              <a:buNone/>
            </a:pPr>
            <a:r>
              <a:rPr lang="en-US" sz="2100" b="1">
                <a:solidFill>
                  <a:srgbClr val="0D9488"/>
                </a:solidFill>
              </a:rPr>
              <a:t>Admins / Owners</a:t>
            </a:r>
            <a:endParaRPr lang="en-US" sz="2100"/>
          </a:p>
        </p:txBody>
      </p:sp>
      <p:sp>
        <p:nvSpPr>
          <p:cNvPr id="20" name="Text 20"/>
          <p:cNvSpPr txBox="1"/>
          <p:nvPr/>
        </p:nvSpPr>
        <p:spPr>
          <a:xfrm>
            <a:off x="1051560" y="2148840"/>
            <a:ext cx="429768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marL="342900" indent="-171450">
              <a:buChar char="•"/>
            </a:pPr>
            <a:r>
              <a:rPr lang="en-US" sz="1500">
                <a:solidFill>
                  <a:srgbClr val="344054"/>
                </a:solidFill>
              </a:rPr>
              <a:t>Announcements</a:t>
            </a:r>
            <a:endParaRPr lang="en-US" sz="1500"/>
          </a:p>
        </p:txBody>
      </p:sp>
      <p:sp>
        <p:nvSpPr>
          <p:cNvPr id="21" name="Text 21"/>
          <p:cNvSpPr txBox="1"/>
          <p:nvPr/>
        </p:nvSpPr>
        <p:spPr>
          <a:xfrm>
            <a:off x="1051560" y="2651760"/>
            <a:ext cx="429768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marL="342900" indent="-171450">
              <a:buChar char="•"/>
            </a:pPr>
            <a:r>
              <a:rPr lang="en-US" sz="1500">
                <a:solidFill>
                  <a:srgbClr val="344054"/>
                </a:solidFill>
              </a:rPr>
              <a:t>Events and registrations</a:t>
            </a:r>
            <a:endParaRPr lang="en-US" sz="1500"/>
          </a:p>
        </p:txBody>
      </p:sp>
      <p:sp>
        <p:nvSpPr>
          <p:cNvPr id="22" name="Text 22"/>
          <p:cNvSpPr txBox="1"/>
          <p:nvPr/>
        </p:nvSpPr>
        <p:spPr>
          <a:xfrm>
            <a:off x="1051560" y="3154680"/>
            <a:ext cx="429768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marL="342900" indent="-171450">
              <a:buChar char="•"/>
            </a:pPr>
            <a:r>
              <a:rPr lang="en-US" sz="1500">
                <a:solidFill>
                  <a:srgbClr val="344054"/>
                </a:solidFill>
              </a:rPr>
              <a:t>Payment status</a:t>
            </a:r>
            <a:endParaRPr lang="en-US" sz="1500"/>
          </a:p>
        </p:txBody>
      </p:sp>
      <p:sp>
        <p:nvSpPr>
          <p:cNvPr id="23" name="Text 23"/>
          <p:cNvSpPr txBox="1"/>
          <p:nvPr/>
        </p:nvSpPr>
        <p:spPr>
          <a:xfrm>
            <a:off x="1051560" y="3657600"/>
            <a:ext cx="429768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marL="342900" indent="-171450">
              <a:buChar char="•"/>
            </a:pPr>
            <a:r>
              <a:rPr lang="en-US" sz="1500">
                <a:solidFill>
                  <a:srgbClr val="344054"/>
                </a:solidFill>
              </a:rPr>
              <a:t>Files and folders</a:t>
            </a:r>
            <a:endParaRPr lang="en-US" sz="1500"/>
          </a:p>
        </p:txBody>
      </p:sp>
      <p:sp>
        <p:nvSpPr>
          <p:cNvPr id="24" name="Text 24"/>
          <p:cNvSpPr txBox="1"/>
          <p:nvPr/>
        </p:nvSpPr>
        <p:spPr>
          <a:xfrm>
            <a:off x="1051560" y="4160520"/>
            <a:ext cx="429768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marL="342900" indent="-171450">
              <a:buChar char="•"/>
            </a:pPr>
            <a:r>
              <a:rPr lang="en-US" sz="1500">
                <a:solidFill>
                  <a:srgbClr val="344054"/>
                </a:solidFill>
              </a:rPr>
              <a:t>Group members</a:t>
            </a:r>
            <a:endParaRPr lang="en-US" sz="1500"/>
          </a:p>
        </p:txBody>
      </p:sp>
      <p:sp>
        <p:nvSpPr>
          <p:cNvPr id="40" name="Text 40"/>
          <p:cNvSpPr txBox="1"/>
          <p:nvPr/>
        </p:nvSpPr>
        <p:spPr>
          <a:xfrm>
            <a:off x="6556248" y="2148840"/>
            <a:ext cx="429768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marL="342900" indent="-171450">
              <a:buChar char="•"/>
            </a:pPr>
            <a:r>
              <a:rPr lang="en-US" sz="1500">
                <a:solidFill>
                  <a:srgbClr val="344054"/>
                </a:solidFill>
              </a:rPr>
              <a:t>Create collections</a:t>
            </a:r>
            <a:endParaRPr lang="en-US" sz="1500"/>
          </a:p>
        </p:txBody>
      </p:sp>
      <p:sp>
        <p:nvSpPr>
          <p:cNvPr id="41" name="Text 41"/>
          <p:cNvSpPr txBox="1"/>
          <p:nvPr/>
        </p:nvSpPr>
        <p:spPr>
          <a:xfrm>
            <a:off x="6556248" y="2651760"/>
            <a:ext cx="429768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marL="342900" indent="-171450">
              <a:buChar char="•"/>
            </a:pPr>
            <a:r>
              <a:rPr lang="en-US" sz="1500">
                <a:solidFill>
                  <a:srgbClr val="344054"/>
                </a:solidFill>
              </a:rPr>
              <a:t>Verify payment proof</a:t>
            </a:r>
            <a:endParaRPr lang="en-US" sz="1500"/>
          </a:p>
        </p:txBody>
      </p:sp>
      <p:sp>
        <p:nvSpPr>
          <p:cNvPr id="42" name="Text 42"/>
          <p:cNvSpPr txBox="1"/>
          <p:nvPr/>
        </p:nvSpPr>
        <p:spPr>
          <a:xfrm>
            <a:off x="6556248" y="3154680"/>
            <a:ext cx="429768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marL="342900" indent="-171450">
              <a:buChar char="•"/>
            </a:pPr>
            <a:r>
              <a:rPr lang="en-US" sz="1500">
                <a:solidFill>
                  <a:srgbClr val="344054"/>
                </a:solidFill>
              </a:rPr>
              <a:t>See member details</a:t>
            </a:r>
            <a:endParaRPr lang="en-US" sz="1500"/>
          </a:p>
        </p:txBody>
      </p:sp>
      <p:sp>
        <p:nvSpPr>
          <p:cNvPr id="43" name="Text 43"/>
          <p:cNvSpPr txBox="1"/>
          <p:nvPr/>
        </p:nvSpPr>
        <p:spPr>
          <a:xfrm>
            <a:off x="6556248" y="3657600"/>
            <a:ext cx="429768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marL="342900" indent="-171450">
              <a:buChar char="•"/>
            </a:pPr>
            <a:r>
              <a:rPr lang="en-US" sz="1500">
                <a:solidFill>
                  <a:srgbClr val="344054"/>
                </a:solidFill>
              </a:rPr>
              <a:t>Remove or block members</a:t>
            </a:r>
            <a:endParaRPr lang="en-US" sz="1500"/>
          </a:p>
        </p:txBody>
      </p:sp>
      <p:sp>
        <p:nvSpPr>
          <p:cNvPr id="44" name="Text 44"/>
          <p:cNvSpPr txBox="1"/>
          <p:nvPr/>
        </p:nvSpPr>
        <p:spPr>
          <a:xfrm>
            <a:off x="6556248" y="4160520"/>
            <a:ext cx="429768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marL="342900" indent="-171450">
              <a:buChar char="•"/>
            </a:pPr>
            <a:r>
              <a:rPr lang="en-US" sz="1500">
                <a:solidFill>
                  <a:srgbClr val="344054"/>
                </a:solidFill>
              </a:rPr>
              <a:t>Start new rounds</a:t>
            </a:r>
            <a:endParaRPr lang="en-US" sz="15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C"/>
          </a:solidFill>
          <a:ln>
            <a:noFill/>
          </a:ln>
        </p:spPr>
      </p:sp>
      <p:sp>
        <p:nvSpPr>
          <p:cNvPr id="3" name="Text 3"/>
          <p:cNvSpPr txBox="1"/>
          <p:nvPr/>
        </p:nvSpPr>
        <p:spPr>
          <a:xfrm>
            <a:off x="594360" y="384048"/>
            <a:ext cx="822960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>
              <a:buNone/>
            </a:pPr>
            <a:r>
              <a:rPr lang="en-US" sz="2800" b="1">
                <a:solidFill>
                  <a:srgbClr val="0F1B2D"/>
                </a:solidFill>
              </a:rPr>
              <a:t>Money Coordination</a:t>
            </a:r>
            <a:endParaRPr lang="en-US" sz="2800"/>
          </a:p>
        </p:txBody>
      </p:sp>
      <p:sp>
        <p:nvSpPr>
          <p:cNvPr id="4" name="Shape 4"/>
          <p:cNvSpPr/>
          <p:nvPr/>
        </p:nvSpPr>
        <p:spPr>
          <a:xfrm>
            <a:off x="594360" y="1051560"/>
            <a:ext cx="1188720" cy="73152"/>
          </a:xfrm>
          <a:prstGeom prst="rect">
            <a:avLst/>
          </a:prstGeom>
          <a:solidFill>
            <a:srgbClr val="0F766E"/>
          </a:solidFill>
          <a:ln>
            <a:noFill/>
          </a:ln>
        </p:spPr>
      </p:sp>
      <p:sp>
        <p:nvSpPr>
          <p:cNvPr id="10" name="Shape 10"/>
          <p:cNvSpPr/>
          <p:nvPr/>
        </p:nvSpPr>
        <p:spPr>
          <a:xfrm>
            <a:off x="731520" y="1417320"/>
            <a:ext cx="10698480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</p:sp>
      <p:sp>
        <p:nvSpPr>
          <p:cNvPr id="11" name="Text 11"/>
          <p:cNvSpPr txBox="1"/>
          <p:nvPr/>
        </p:nvSpPr>
        <p:spPr>
          <a:xfrm>
            <a:off x="987552" y="1545336"/>
            <a:ext cx="27432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>
              <a:buNone/>
            </a:pPr>
            <a:r>
              <a:rPr lang="en-US" sz="1700" b="1">
                <a:solidFill>
                  <a:srgbClr val="0F766E"/>
                </a:solidFill>
              </a:rPr>
              <a:t>Collections</a:t>
            </a:r>
            <a:endParaRPr lang="en-US" sz="1700"/>
          </a:p>
        </p:txBody>
      </p:sp>
      <p:sp>
        <p:nvSpPr>
          <p:cNvPr id="12" name="Text 12"/>
          <p:cNvSpPr txBox="1"/>
          <p:nvPr/>
        </p:nvSpPr>
        <p:spPr>
          <a:xfrm>
            <a:off x="3246120" y="1545336"/>
            <a:ext cx="768096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>
              <a:buNone/>
            </a:pPr>
            <a:r>
              <a:rPr lang="en-US" sz="1500">
                <a:solidFill>
                  <a:srgbClr val="344054"/>
                </a:solidFill>
              </a:rPr>
              <a:t>Create contribution, order, or paid event with amount and deadline.</a:t>
            </a:r>
            <a:endParaRPr lang="en-US" sz="1500"/>
          </a:p>
        </p:txBody>
      </p:sp>
      <p:sp>
        <p:nvSpPr>
          <p:cNvPr id="13" name="Shape 13"/>
          <p:cNvSpPr/>
          <p:nvPr/>
        </p:nvSpPr>
        <p:spPr>
          <a:xfrm>
            <a:off x="731520" y="2203704"/>
            <a:ext cx="10698480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</p:sp>
      <p:sp>
        <p:nvSpPr>
          <p:cNvPr id="14" name="Text 14"/>
          <p:cNvSpPr txBox="1"/>
          <p:nvPr/>
        </p:nvSpPr>
        <p:spPr>
          <a:xfrm>
            <a:off x="987552" y="2331720"/>
            <a:ext cx="27432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>
              <a:buNone/>
            </a:pPr>
            <a:r>
              <a:rPr lang="en-US" sz="1700" b="1">
                <a:solidFill>
                  <a:srgbClr val="0F766E"/>
                </a:solidFill>
              </a:rPr>
              <a:t>Payment status</a:t>
            </a:r>
            <a:endParaRPr lang="en-US" sz="1700"/>
          </a:p>
        </p:txBody>
      </p:sp>
      <p:sp>
        <p:nvSpPr>
          <p:cNvPr id="15" name="Text 15"/>
          <p:cNvSpPr txBox="1"/>
          <p:nvPr/>
        </p:nvSpPr>
        <p:spPr>
          <a:xfrm>
            <a:off x="3246120" y="2331720"/>
            <a:ext cx="768096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>
              <a:buNone/>
            </a:pPr>
            <a:r>
              <a:rPr lang="en-US" sz="1500">
                <a:solidFill>
                  <a:srgbClr val="344054"/>
                </a:solidFill>
              </a:rPr>
              <a:t>Members see their own status; admins see registered, pending, and paid people.</a:t>
            </a:r>
            <a:endParaRPr lang="en-US" sz="1500"/>
          </a:p>
        </p:txBody>
      </p:sp>
      <p:sp>
        <p:nvSpPr>
          <p:cNvPr id="16" name="Shape 16"/>
          <p:cNvSpPr/>
          <p:nvPr/>
        </p:nvSpPr>
        <p:spPr>
          <a:xfrm>
            <a:off x="731520" y="2990088"/>
            <a:ext cx="10698480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</p:sp>
      <p:sp>
        <p:nvSpPr>
          <p:cNvPr id="17" name="Text 17"/>
          <p:cNvSpPr txBox="1"/>
          <p:nvPr/>
        </p:nvSpPr>
        <p:spPr>
          <a:xfrm>
            <a:off x="987552" y="3118104"/>
            <a:ext cx="27432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>
              <a:buNone/>
            </a:pPr>
            <a:r>
              <a:rPr lang="en-US" sz="1700" b="1">
                <a:solidFill>
                  <a:srgbClr val="0F766E"/>
                </a:solidFill>
              </a:rPr>
              <a:t>Proof first</a:t>
            </a:r>
            <a:endParaRPr lang="en-US" sz="1700"/>
          </a:p>
        </p:txBody>
      </p:sp>
      <p:sp>
        <p:nvSpPr>
          <p:cNvPr id="18" name="Text 18"/>
          <p:cNvSpPr txBox="1"/>
          <p:nvPr/>
        </p:nvSpPr>
        <p:spPr>
          <a:xfrm>
            <a:off x="3246120" y="3118104"/>
            <a:ext cx="768096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>
              <a:buNone/>
            </a:pPr>
            <a:r>
              <a:rPr lang="en-US" sz="1500">
                <a:solidFill>
                  <a:srgbClr val="344054"/>
                </a:solidFill>
              </a:rPr>
              <a:t>Manual proof remains available while live mobile money is marked coming soon.</a:t>
            </a:r>
            <a:endParaRPr lang="en-US" sz="1500"/>
          </a:p>
        </p:txBody>
      </p:sp>
      <p:sp>
        <p:nvSpPr>
          <p:cNvPr id="19" name="Shape 19"/>
          <p:cNvSpPr/>
          <p:nvPr/>
        </p:nvSpPr>
        <p:spPr>
          <a:xfrm>
            <a:off x="731520" y="3776472"/>
            <a:ext cx="10698480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</p:sp>
      <p:sp>
        <p:nvSpPr>
          <p:cNvPr id="20" name="Text 20"/>
          <p:cNvSpPr txBox="1"/>
          <p:nvPr/>
        </p:nvSpPr>
        <p:spPr>
          <a:xfrm>
            <a:off x="987552" y="3904487"/>
            <a:ext cx="27432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>
              <a:buNone/>
            </a:pPr>
            <a:r>
              <a:rPr lang="en-US" sz="1700" b="1">
                <a:solidFill>
                  <a:srgbClr val="0F766E"/>
                </a:solidFill>
              </a:rPr>
              <a:t>History remains</a:t>
            </a:r>
            <a:endParaRPr lang="en-US" sz="1700"/>
          </a:p>
        </p:txBody>
      </p:sp>
      <p:sp>
        <p:nvSpPr>
          <p:cNvPr id="21" name="Text 21"/>
          <p:cNvSpPr txBox="1"/>
          <p:nvPr/>
        </p:nvSpPr>
        <p:spPr>
          <a:xfrm>
            <a:off x="3246120" y="3904487"/>
            <a:ext cx="768096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>
              <a:buNone/>
            </a:pPr>
            <a:r>
              <a:rPr lang="en-US" sz="1500">
                <a:solidFill>
                  <a:srgbClr val="344054"/>
                </a:solidFill>
              </a:rPr>
              <a:t>Old rounds remain for creator/admin while new rounds start clean for members.</a:t>
            </a:r>
            <a:endParaRPr lang="en-US" sz="15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C"/>
          </a:solidFill>
          <a:ln>
            <a:noFill/>
          </a:ln>
        </p:spPr>
      </p:sp>
      <p:sp>
        <p:nvSpPr>
          <p:cNvPr id="3" name="Text 3"/>
          <p:cNvSpPr txBox="1"/>
          <p:nvPr/>
        </p:nvSpPr>
        <p:spPr>
          <a:xfrm>
            <a:off x="594360" y="384048"/>
            <a:ext cx="822960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>
              <a:buNone/>
            </a:pPr>
            <a:r>
              <a:rPr lang="en-US" sz="2800" b="1">
                <a:solidFill>
                  <a:srgbClr val="0F1B2D"/>
                </a:solidFill>
              </a:rPr>
              <a:t>Events, Files, And Members</a:t>
            </a:r>
            <a:endParaRPr lang="en-US" sz="2800"/>
          </a:p>
        </p:txBody>
      </p:sp>
      <p:sp>
        <p:nvSpPr>
          <p:cNvPr id="4" name="Shape 4"/>
          <p:cNvSpPr/>
          <p:nvPr/>
        </p:nvSpPr>
        <p:spPr>
          <a:xfrm>
            <a:off x="594360" y="1051560"/>
            <a:ext cx="1188720" cy="73152"/>
          </a:xfrm>
          <a:prstGeom prst="rect">
            <a:avLst/>
          </a:prstGeom>
          <a:solidFill>
            <a:srgbClr val="0F766E"/>
          </a:solidFill>
          <a:ln>
            <a:noFill/>
          </a:ln>
        </p:spPr>
      </p:sp>
      <p:sp>
        <p:nvSpPr>
          <p:cNvPr id="10" name="Shape 10"/>
          <p:cNvSpPr/>
          <p:nvPr/>
        </p:nvSpPr>
        <p:spPr>
          <a:xfrm>
            <a:off x="731520" y="1417320"/>
            <a:ext cx="10698480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</p:sp>
      <p:sp>
        <p:nvSpPr>
          <p:cNvPr id="11" name="Text 11"/>
          <p:cNvSpPr txBox="1"/>
          <p:nvPr/>
        </p:nvSpPr>
        <p:spPr>
          <a:xfrm>
            <a:off x="987552" y="1545336"/>
            <a:ext cx="27432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>
              <a:buNone/>
            </a:pPr>
            <a:r>
              <a:rPr lang="en-US" sz="1700" b="1">
                <a:solidFill>
                  <a:srgbClr val="0F766E"/>
                </a:solidFill>
              </a:rPr>
              <a:t>Events</a:t>
            </a:r>
            <a:endParaRPr lang="en-US" sz="1700"/>
          </a:p>
        </p:txBody>
      </p:sp>
      <p:sp>
        <p:nvSpPr>
          <p:cNvPr id="12" name="Text 12"/>
          <p:cNvSpPr txBox="1"/>
          <p:nvPr/>
        </p:nvSpPr>
        <p:spPr>
          <a:xfrm>
            <a:off x="3246120" y="1545336"/>
            <a:ext cx="768096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>
              <a:buNone/>
            </a:pPr>
            <a:r>
              <a:rPr lang="en-US" sz="1500">
                <a:solidFill>
                  <a:srgbClr val="344054"/>
                </a:solidFill>
              </a:rPr>
              <a:t>Paid or free events can collect registrations and show who is attending.</a:t>
            </a:r>
            <a:endParaRPr lang="en-US" sz="1500"/>
          </a:p>
        </p:txBody>
      </p:sp>
      <p:sp>
        <p:nvSpPr>
          <p:cNvPr id="13" name="Shape 13"/>
          <p:cNvSpPr/>
          <p:nvPr/>
        </p:nvSpPr>
        <p:spPr>
          <a:xfrm>
            <a:off x="731520" y="2203704"/>
            <a:ext cx="10698480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</p:sp>
      <p:sp>
        <p:nvSpPr>
          <p:cNvPr id="14" name="Text 14"/>
          <p:cNvSpPr txBox="1"/>
          <p:nvPr/>
        </p:nvSpPr>
        <p:spPr>
          <a:xfrm>
            <a:off x="987552" y="2331720"/>
            <a:ext cx="27432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>
              <a:buNone/>
            </a:pPr>
            <a:r>
              <a:rPr lang="en-US" sz="1700" b="1">
                <a:solidFill>
                  <a:srgbClr val="0F766E"/>
                </a:solidFill>
              </a:rPr>
              <a:t>Files</a:t>
            </a:r>
            <a:endParaRPr lang="en-US" sz="1700"/>
          </a:p>
        </p:txBody>
      </p:sp>
      <p:sp>
        <p:nvSpPr>
          <p:cNvPr id="15" name="Text 15"/>
          <p:cNvSpPr txBox="1"/>
          <p:nvPr/>
        </p:nvSpPr>
        <p:spPr>
          <a:xfrm>
            <a:off x="3246120" y="2331720"/>
            <a:ext cx="768096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>
              <a:buNone/>
            </a:pPr>
            <a:r>
              <a:rPr lang="en-US" sz="1500">
                <a:solidFill>
                  <a:srgbClr val="344054"/>
                </a:solidFill>
              </a:rPr>
              <a:t>Folders keep notes, PDFs, and resources organized by group context.</a:t>
            </a:r>
            <a:endParaRPr lang="en-US" sz="1500"/>
          </a:p>
        </p:txBody>
      </p:sp>
      <p:sp>
        <p:nvSpPr>
          <p:cNvPr id="16" name="Shape 16"/>
          <p:cNvSpPr/>
          <p:nvPr/>
        </p:nvSpPr>
        <p:spPr>
          <a:xfrm>
            <a:off x="731520" y="2990088"/>
            <a:ext cx="10698480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</p:sp>
      <p:sp>
        <p:nvSpPr>
          <p:cNvPr id="17" name="Text 17"/>
          <p:cNvSpPr txBox="1"/>
          <p:nvPr/>
        </p:nvSpPr>
        <p:spPr>
          <a:xfrm>
            <a:off x="987552" y="3118104"/>
            <a:ext cx="27432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>
              <a:buNone/>
            </a:pPr>
            <a:r>
              <a:rPr lang="en-US" sz="1700" b="1">
                <a:solidFill>
                  <a:srgbClr val="0F766E"/>
                </a:solidFill>
              </a:rPr>
              <a:t>Members</a:t>
            </a:r>
            <a:endParaRPr lang="en-US" sz="1700"/>
          </a:p>
        </p:txBody>
      </p:sp>
      <p:sp>
        <p:nvSpPr>
          <p:cNvPr id="18" name="Text 18"/>
          <p:cNvSpPr txBox="1"/>
          <p:nvPr/>
        </p:nvSpPr>
        <p:spPr>
          <a:xfrm>
            <a:off x="3246120" y="3118104"/>
            <a:ext cx="768096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>
              <a:buNone/>
            </a:pPr>
            <a:r>
              <a:rPr lang="en-US" sz="1500">
                <a:solidFill>
                  <a:srgbClr val="344054"/>
                </a:solidFill>
              </a:rPr>
              <a:t>Users are shown by username first; phone details are reserved for admin action.</a:t>
            </a:r>
            <a:endParaRPr lang="en-US" sz="1500"/>
          </a:p>
        </p:txBody>
      </p:sp>
      <p:sp>
        <p:nvSpPr>
          <p:cNvPr id="19" name="Shape 19"/>
          <p:cNvSpPr/>
          <p:nvPr/>
        </p:nvSpPr>
        <p:spPr>
          <a:xfrm>
            <a:off x="731520" y="3776472"/>
            <a:ext cx="10698480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</p:sp>
      <p:sp>
        <p:nvSpPr>
          <p:cNvPr id="20" name="Text 20"/>
          <p:cNvSpPr txBox="1"/>
          <p:nvPr/>
        </p:nvSpPr>
        <p:spPr>
          <a:xfrm>
            <a:off x="987552" y="3904487"/>
            <a:ext cx="27432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>
              <a:buNone/>
            </a:pPr>
            <a:r>
              <a:rPr lang="en-US" sz="1700" b="1">
                <a:solidFill>
                  <a:srgbClr val="0F766E"/>
                </a:solidFill>
              </a:rPr>
              <a:t>Offline feel</a:t>
            </a:r>
            <a:endParaRPr lang="en-US" sz="1700"/>
          </a:p>
        </p:txBody>
      </p:sp>
      <p:sp>
        <p:nvSpPr>
          <p:cNvPr id="21" name="Text 21"/>
          <p:cNvSpPr txBox="1"/>
          <p:nvPr/>
        </p:nvSpPr>
        <p:spPr>
          <a:xfrm>
            <a:off x="3246120" y="3904487"/>
            <a:ext cx="768096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>
              <a:buNone/>
            </a:pPr>
            <a:r>
              <a:rPr lang="en-US" sz="1500">
                <a:solidFill>
                  <a:srgbClr val="344054"/>
                </a:solidFill>
              </a:rPr>
              <a:t>Known/discovered content can remain visible, while online actions wait for connection.</a:t>
            </a:r>
            <a:endParaRPr lang="en-US" sz="15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C"/>
          </a:solidFill>
          <a:ln>
            <a:noFill/>
          </a:ln>
        </p:spPr>
      </p:sp>
      <p:sp>
        <p:nvSpPr>
          <p:cNvPr id="3" name="Text 3"/>
          <p:cNvSpPr txBox="1"/>
          <p:nvPr/>
        </p:nvSpPr>
        <p:spPr>
          <a:xfrm>
            <a:off x="594360" y="384048"/>
            <a:ext cx="822960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>
              <a:buNone/>
            </a:pPr>
            <a:r>
              <a:rPr lang="en-US" sz="2800" b="1">
                <a:solidFill>
                  <a:srgbClr val="0F1B2D"/>
                </a:solidFill>
              </a:rPr>
              <a:t>Discover Focus: Rooms Only For Now</a:t>
            </a:r>
            <a:endParaRPr lang="en-US" sz="2800"/>
          </a:p>
        </p:txBody>
      </p:sp>
      <p:sp>
        <p:nvSpPr>
          <p:cNvPr id="4" name="Shape 4"/>
          <p:cNvSpPr/>
          <p:nvPr/>
        </p:nvSpPr>
        <p:spPr>
          <a:xfrm>
            <a:off x="594360" y="1051560"/>
            <a:ext cx="1188720" cy="73152"/>
          </a:xfrm>
          <a:prstGeom prst="rect">
            <a:avLst/>
          </a:prstGeom>
          <a:solidFill>
            <a:srgbClr val="0D9488"/>
          </a:solidFill>
          <a:ln>
            <a:noFill/>
          </a:ln>
        </p:spPr>
      </p:sp>
      <p:sp>
        <p:nvSpPr>
          <p:cNvPr id="10" name="Shape 10"/>
          <p:cNvSpPr/>
          <p:nvPr/>
        </p:nvSpPr>
        <p:spPr>
          <a:xfrm>
            <a:off x="731520" y="1417320"/>
            <a:ext cx="10698480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</p:sp>
      <p:sp>
        <p:nvSpPr>
          <p:cNvPr id="11" name="Text 11"/>
          <p:cNvSpPr txBox="1"/>
          <p:nvPr/>
        </p:nvSpPr>
        <p:spPr>
          <a:xfrm>
            <a:off x="987552" y="1545336"/>
            <a:ext cx="27432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>
              <a:buNone/>
            </a:pPr>
            <a:r>
              <a:rPr lang="en-US" sz="1700" b="1">
                <a:solidFill>
                  <a:srgbClr val="0D9488"/>
                </a:solidFill>
              </a:rPr>
              <a:t>Simple supply focus</a:t>
            </a:r>
            <a:endParaRPr lang="en-US" sz="1700"/>
          </a:p>
        </p:txBody>
      </p:sp>
      <p:sp>
        <p:nvSpPr>
          <p:cNvPr id="12" name="Text 12"/>
          <p:cNvSpPr txBox="1"/>
          <p:nvPr/>
        </p:nvSpPr>
        <p:spPr>
          <a:xfrm>
            <a:off x="3246120" y="1545336"/>
            <a:ext cx="768096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>
              <a:buNone/>
            </a:pPr>
            <a:r>
              <a:rPr lang="en-US" sz="1500">
                <a:solidFill>
                  <a:srgbClr val="344054"/>
                </a:solidFill>
              </a:rPr>
              <a:t>Discover should not feel empty by spreading attention across too many categories.</a:t>
            </a:r>
            <a:endParaRPr lang="en-US" sz="1500"/>
          </a:p>
        </p:txBody>
      </p:sp>
      <p:sp>
        <p:nvSpPr>
          <p:cNvPr id="13" name="Shape 13"/>
          <p:cNvSpPr/>
          <p:nvPr/>
        </p:nvSpPr>
        <p:spPr>
          <a:xfrm>
            <a:off x="731520" y="2203704"/>
            <a:ext cx="10698480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</p:sp>
      <p:sp>
        <p:nvSpPr>
          <p:cNvPr id="14" name="Text 14"/>
          <p:cNvSpPr txBox="1"/>
          <p:nvPr/>
        </p:nvSpPr>
        <p:spPr>
          <a:xfrm>
            <a:off x="987552" y="2331720"/>
            <a:ext cx="27432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>
              <a:buNone/>
            </a:pPr>
            <a:r>
              <a:rPr lang="en-US" sz="1700" b="1">
                <a:solidFill>
                  <a:srgbClr val="0D9488"/>
                </a:solidFill>
              </a:rPr>
              <a:t>Room cards</a:t>
            </a:r>
            <a:endParaRPr lang="en-US" sz="1700"/>
          </a:p>
        </p:txBody>
      </p:sp>
      <p:sp>
        <p:nvSpPr>
          <p:cNvPr id="15" name="Text 15"/>
          <p:cNvSpPr txBox="1"/>
          <p:nvPr/>
        </p:nvSpPr>
        <p:spPr>
          <a:xfrm>
            <a:off x="3246120" y="2331720"/>
            <a:ext cx="768096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>
              <a:buNone/>
            </a:pPr>
            <a:r>
              <a:rPr lang="en-US" sz="1500">
                <a:solidFill>
                  <a:srgbClr val="344054"/>
                </a:solidFill>
              </a:rPr>
              <a:t>Show location, price, room type, amenities, and photos clearly.</a:t>
            </a:r>
            <a:endParaRPr lang="en-US" sz="1500"/>
          </a:p>
        </p:txBody>
      </p:sp>
      <p:sp>
        <p:nvSpPr>
          <p:cNvPr id="16" name="Shape 16"/>
          <p:cNvSpPr/>
          <p:nvPr/>
        </p:nvSpPr>
        <p:spPr>
          <a:xfrm>
            <a:off x="731520" y="2990088"/>
            <a:ext cx="10698480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</p:sp>
      <p:sp>
        <p:nvSpPr>
          <p:cNvPr id="17" name="Text 17"/>
          <p:cNvSpPr txBox="1"/>
          <p:nvPr/>
        </p:nvSpPr>
        <p:spPr>
          <a:xfrm>
            <a:off x="987552" y="3118104"/>
            <a:ext cx="27432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>
              <a:buNone/>
            </a:pPr>
            <a:r>
              <a:rPr lang="en-US" sz="1700" b="1">
                <a:solidFill>
                  <a:srgbClr val="0D9488"/>
                </a:solidFill>
              </a:rPr>
              <a:t>Indoor photo swipe</a:t>
            </a:r>
            <a:endParaRPr lang="en-US" sz="1700"/>
          </a:p>
        </p:txBody>
      </p:sp>
      <p:sp>
        <p:nvSpPr>
          <p:cNvPr id="18" name="Text 18"/>
          <p:cNvSpPr txBox="1"/>
          <p:nvPr/>
        </p:nvSpPr>
        <p:spPr>
          <a:xfrm>
            <a:off x="3246120" y="3118104"/>
            <a:ext cx="768096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>
              <a:buNone/>
            </a:pPr>
            <a:r>
              <a:rPr lang="en-US" sz="1500">
                <a:solidFill>
                  <a:srgbClr val="344054"/>
                </a:solidFill>
              </a:rPr>
              <a:t>Students can inspect room images by swiping through photos.</a:t>
            </a:r>
            <a:endParaRPr lang="en-US" sz="1500"/>
          </a:p>
        </p:txBody>
      </p:sp>
      <p:sp>
        <p:nvSpPr>
          <p:cNvPr id="19" name="Shape 19"/>
          <p:cNvSpPr/>
          <p:nvPr/>
        </p:nvSpPr>
        <p:spPr>
          <a:xfrm>
            <a:off x="731520" y="3776472"/>
            <a:ext cx="10698480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</p:sp>
      <p:sp>
        <p:nvSpPr>
          <p:cNvPr id="20" name="Text 20"/>
          <p:cNvSpPr txBox="1"/>
          <p:nvPr/>
        </p:nvSpPr>
        <p:spPr>
          <a:xfrm>
            <a:off x="987552" y="3904487"/>
            <a:ext cx="27432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>
              <a:buNone/>
            </a:pPr>
            <a:r>
              <a:rPr lang="en-US" sz="1700" b="1">
                <a:solidFill>
                  <a:srgbClr val="0D9488"/>
                </a:solidFill>
              </a:rPr>
              <a:t>Admin switch</a:t>
            </a:r>
            <a:endParaRPr lang="en-US" sz="1700"/>
          </a:p>
        </p:txBody>
      </p:sp>
      <p:sp>
        <p:nvSpPr>
          <p:cNvPr id="21" name="Text 21"/>
          <p:cNvSpPr txBox="1"/>
          <p:nvPr/>
        </p:nvSpPr>
        <p:spPr>
          <a:xfrm>
            <a:off x="3246120" y="3904487"/>
            <a:ext cx="768096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>
              <a:buNone/>
            </a:pPr>
            <a:r>
              <a:rPr lang="en-US" sz="1500">
                <a:solidFill>
                  <a:srgbClr val="344054"/>
                </a:solidFill>
              </a:rPr>
              <a:t>Rooms can stay hidden until there is enough supply to make the feed useful.</a:t>
            </a:r>
            <a:endParaRPr lang="en-US" sz="15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C"/>
          </a:solidFill>
          <a:ln>
            <a:noFill/>
          </a:ln>
        </p:spPr>
      </p:sp>
      <p:sp>
        <p:nvSpPr>
          <p:cNvPr id="3" name="Text 3"/>
          <p:cNvSpPr txBox="1"/>
          <p:nvPr/>
        </p:nvSpPr>
        <p:spPr>
          <a:xfrm>
            <a:off x="594360" y="384048"/>
            <a:ext cx="914400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>
              <a:buNone/>
            </a:pPr>
            <a:r>
              <a:rPr lang="en-US" sz="2800" b="1">
                <a:solidFill>
                  <a:srgbClr val="0F1B2D"/>
                </a:solidFill>
              </a:rPr>
              <a:t>Room Discovery Flow</a:t>
            </a:r>
            <a:endParaRPr lang="en-US" sz="2800"/>
          </a:p>
        </p:txBody>
      </p:sp>
      <p:sp>
        <p:nvSpPr>
          <p:cNvPr id="10" name="Shape 10"/>
          <p:cNvSpPr/>
          <p:nvPr/>
        </p:nvSpPr>
        <p:spPr>
          <a:xfrm>
            <a:off x="822960" y="2057400"/>
            <a:ext cx="205740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FEFEB"/>
            </a:solidFill>
          </a:ln>
        </p:spPr>
      </p:sp>
      <p:sp>
        <p:nvSpPr>
          <p:cNvPr id="20" name="Text 20"/>
          <p:cNvSpPr txBox="1"/>
          <p:nvPr/>
        </p:nvSpPr>
        <p:spPr>
          <a:xfrm>
            <a:off x="987552" y="2221992"/>
            <a:ext cx="50292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>
              <a:buNone/>
            </a:pPr>
            <a:r>
              <a:rPr lang="en-US" sz="1800" b="1">
                <a:solidFill>
                  <a:srgbClr val="0D9488"/>
                </a:solidFill>
              </a:rPr>
              <a:t>1</a:t>
            </a:r>
            <a:endParaRPr lang="en-US" sz="1800"/>
          </a:p>
        </p:txBody>
      </p:sp>
      <p:sp>
        <p:nvSpPr>
          <p:cNvPr id="30" name="Text 30"/>
          <p:cNvSpPr txBox="1"/>
          <p:nvPr/>
        </p:nvSpPr>
        <p:spPr>
          <a:xfrm>
            <a:off x="987552" y="2587752"/>
            <a:ext cx="1728216" cy="594360"/>
          </a:xfrm>
          <a:prstGeom prst="rect">
            <a:avLst/>
          </a:prstGeom>
          <a:noFill/>
        </p:spPr>
        <p:txBody>
          <a:bodyPr wrap="square" anchor="t"/>
          <a:lstStyle/>
          <a:p>
            <a:pPr>
              <a:buNone/>
            </a:pPr>
            <a:r>
              <a:rPr lang="en-US" sz="1600" b="1">
                <a:solidFill>
                  <a:srgbClr val="0F1B2D"/>
                </a:solidFill>
              </a:rPr>
              <a:t>Landlord/student lists room</a:t>
            </a:r>
            <a:endParaRPr lang="en-US" sz="1600"/>
          </a:p>
        </p:txBody>
      </p:sp>
      <p:cxnSp>
        <p:nvCxnSpPr>
          <p:cNvPr id="40" name="Line 40"/>
          <p:cNvCxnSpPr/>
          <p:nvPr/>
        </p:nvCxnSpPr>
        <p:spPr>
          <a:xfrm>
            <a:off x="2880360" y="2770632"/>
            <a:ext cx="274319" cy="0"/>
          </a:xfrm>
          <a:prstGeom prst="line">
            <a:avLst/>
          </a:prstGeom>
          <a:ln w="25400">
            <a:solidFill>
              <a:srgbClr val="06D6C7"/>
            </a:solidFill>
          </a:ln>
        </p:spPr>
      </p:cxnSp>
      <p:sp>
        <p:nvSpPr>
          <p:cNvPr id="11" name="Shape 11"/>
          <p:cNvSpPr/>
          <p:nvPr/>
        </p:nvSpPr>
        <p:spPr>
          <a:xfrm>
            <a:off x="3154679" y="2057400"/>
            <a:ext cx="205740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FEFEB"/>
            </a:solidFill>
          </a:ln>
        </p:spPr>
      </p:sp>
      <p:sp>
        <p:nvSpPr>
          <p:cNvPr id="21" name="Text 21"/>
          <p:cNvSpPr txBox="1"/>
          <p:nvPr/>
        </p:nvSpPr>
        <p:spPr>
          <a:xfrm>
            <a:off x="3319272" y="2221992"/>
            <a:ext cx="50292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>
              <a:buNone/>
            </a:pPr>
            <a:r>
              <a:rPr lang="en-US" sz="1800" b="1">
                <a:solidFill>
                  <a:srgbClr val="0D9488"/>
                </a:solidFill>
              </a:rPr>
              <a:t>2</a:t>
            </a:r>
            <a:endParaRPr lang="en-US" sz="1800"/>
          </a:p>
        </p:txBody>
      </p:sp>
      <p:sp>
        <p:nvSpPr>
          <p:cNvPr id="31" name="Text 31"/>
          <p:cNvSpPr txBox="1"/>
          <p:nvPr/>
        </p:nvSpPr>
        <p:spPr>
          <a:xfrm>
            <a:off x="3319272" y="2587752"/>
            <a:ext cx="1728216" cy="594360"/>
          </a:xfrm>
          <a:prstGeom prst="rect">
            <a:avLst/>
          </a:prstGeom>
          <a:noFill/>
        </p:spPr>
        <p:txBody>
          <a:bodyPr wrap="square" anchor="t"/>
          <a:lstStyle/>
          <a:p>
            <a:pPr>
              <a:buNone/>
            </a:pPr>
            <a:r>
              <a:rPr lang="en-US" sz="1600" b="1">
                <a:solidFill>
                  <a:srgbClr val="0F1B2D"/>
                </a:solidFill>
              </a:rPr>
              <a:t>Adds photos and location</a:t>
            </a:r>
            <a:endParaRPr lang="en-US" sz="1600"/>
          </a:p>
        </p:txBody>
      </p:sp>
      <p:cxnSp>
        <p:nvCxnSpPr>
          <p:cNvPr id="41" name="Line 41"/>
          <p:cNvCxnSpPr/>
          <p:nvPr/>
        </p:nvCxnSpPr>
        <p:spPr>
          <a:xfrm>
            <a:off x="5212079" y="2770632"/>
            <a:ext cx="274319" cy="0"/>
          </a:xfrm>
          <a:prstGeom prst="line">
            <a:avLst/>
          </a:prstGeom>
          <a:ln w="25400">
            <a:solidFill>
              <a:srgbClr val="06D6C7"/>
            </a:solidFill>
          </a:ln>
        </p:spPr>
      </p:cxnSp>
      <p:sp>
        <p:nvSpPr>
          <p:cNvPr id="12" name="Shape 12"/>
          <p:cNvSpPr/>
          <p:nvPr/>
        </p:nvSpPr>
        <p:spPr>
          <a:xfrm>
            <a:off x="5486400" y="2057400"/>
            <a:ext cx="205740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FEFEB"/>
            </a:solidFill>
          </a:ln>
        </p:spPr>
      </p:sp>
      <p:sp>
        <p:nvSpPr>
          <p:cNvPr id="22" name="Text 22"/>
          <p:cNvSpPr txBox="1"/>
          <p:nvPr/>
        </p:nvSpPr>
        <p:spPr>
          <a:xfrm>
            <a:off x="5650992" y="2221992"/>
            <a:ext cx="50292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>
              <a:buNone/>
            </a:pPr>
            <a:r>
              <a:rPr lang="en-US" sz="1800" b="1">
                <a:solidFill>
                  <a:srgbClr val="0D9488"/>
                </a:solidFill>
              </a:rPr>
              <a:t>3</a:t>
            </a:r>
            <a:endParaRPr lang="en-US" sz="1800"/>
          </a:p>
        </p:txBody>
      </p:sp>
      <p:sp>
        <p:nvSpPr>
          <p:cNvPr id="32" name="Text 32"/>
          <p:cNvSpPr txBox="1"/>
          <p:nvPr/>
        </p:nvSpPr>
        <p:spPr>
          <a:xfrm>
            <a:off x="5650992" y="2587752"/>
            <a:ext cx="1728216" cy="594360"/>
          </a:xfrm>
          <a:prstGeom prst="rect">
            <a:avLst/>
          </a:prstGeom>
          <a:noFill/>
        </p:spPr>
        <p:txBody>
          <a:bodyPr wrap="square" anchor="t"/>
          <a:lstStyle/>
          <a:p>
            <a:pPr>
              <a:buNone/>
            </a:pPr>
            <a:r>
              <a:rPr lang="en-US" sz="1600" b="1">
                <a:solidFill>
                  <a:srgbClr val="0F1B2D"/>
                </a:solidFill>
              </a:rPr>
              <a:t>Student browses rooms</a:t>
            </a:r>
            <a:endParaRPr lang="en-US" sz="1600"/>
          </a:p>
        </p:txBody>
      </p:sp>
      <p:cxnSp>
        <p:nvCxnSpPr>
          <p:cNvPr id="42" name="Line 42"/>
          <p:cNvCxnSpPr/>
          <p:nvPr/>
        </p:nvCxnSpPr>
        <p:spPr>
          <a:xfrm>
            <a:off x="7543800" y="2770632"/>
            <a:ext cx="274320" cy="0"/>
          </a:xfrm>
          <a:prstGeom prst="line">
            <a:avLst/>
          </a:prstGeom>
          <a:ln w="25400">
            <a:solidFill>
              <a:srgbClr val="06D6C7"/>
            </a:solidFill>
          </a:ln>
        </p:spPr>
      </p:cxnSp>
      <p:sp>
        <p:nvSpPr>
          <p:cNvPr id="13" name="Shape 13"/>
          <p:cNvSpPr/>
          <p:nvPr/>
        </p:nvSpPr>
        <p:spPr>
          <a:xfrm>
            <a:off x="7818119" y="2057400"/>
            <a:ext cx="205740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FEFEB"/>
            </a:solidFill>
          </a:ln>
        </p:spPr>
      </p:sp>
      <p:sp>
        <p:nvSpPr>
          <p:cNvPr id="23" name="Text 23"/>
          <p:cNvSpPr txBox="1"/>
          <p:nvPr/>
        </p:nvSpPr>
        <p:spPr>
          <a:xfrm>
            <a:off x="7982711" y="2221992"/>
            <a:ext cx="50292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>
              <a:buNone/>
            </a:pPr>
            <a:r>
              <a:rPr lang="en-US" sz="1800" b="1">
                <a:solidFill>
                  <a:srgbClr val="0D9488"/>
                </a:solidFill>
              </a:rPr>
              <a:t>4</a:t>
            </a:r>
            <a:endParaRPr lang="en-US" sz="1800"/>
          </a:p>
        </p:txBody>
      </p:sp>
      <p:sp>
        <p:nvSpPr>
          <p:cNvPr id="33" name="Text 33"/>
          <p:cNvSpPr txBox="1"/>
          <p:nvPr/>
        </p:nvSpPr>
        <p:spPr>
          <a:xfrm>
            <a:off x="7982711" y="2587752"/>
            <a:ext cx="1728216" cy="594360"/>
          </a:xfrm>
          <a:prstGeom prst="rect">
            <a:avLst/>
          </a:prstGeom>
          <a:noFill/>
        </p:spPr>
        <p:txBody>
          <a:bodyPr wrap="square" anchor="t"/>
          <a:lstStyle/>
          <a:p>
            <a:pPr>
              <a:buNone/>
            </a:pPr>
            <a:r>
              <a:rPr lang="en-US" sz="1600" b="1">
                <a:solidFill>
                  <a:srgbClr val="0F1B2D"/>
                </a:solidFill>
              </a:rPr>
              <a:t>Student checks indoor view</a:t>
            </a:r>
            <a:endParaRPr lang="en-US" sz="1600"/>
          </a:p>
        </p:txBody>
      </p:sp>
      <p:cxnSp>
        <p:nvCxnSpPr>
          <p:cNvPr id="43" name="Line 43"/>
          <p:cNvCxnSpPr/>
          <p:nvPr/>
        </p:nvCxnSpPr>
        <p:spPr>
          <a:xfrm>
            <a:off x="9875519" y="2770632"/>
            <a:ext cx="274320" cy="0"/>
          </a:xfrm>
          <a:prstGeom prst="line">
            <a:avLst/>
          </a:prstGeom>
          <a:ln w="25400">
            <a:solidFill>
              <a:srgbClr val="06D6C7"/>
            </a:solidFill>
          </a:ln>
        </p:spPr>
      </p:cxnSp>
      <p:sp>
        <p:nvSpPr>
          <p:cNvPr id="14" name="Shape 14"/>
          <p:cNvSpPr/>
          <p:nvPr/>
        </p:nvSpPr>
        <p:spPr>
          <a:xfrm>
            <a:off x="10149840" y="2057400"/>
            <a:ext cx="205740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FEFEB"/>
            </a:solidFill>
          </a:ln>
        </p:spPr>
      </p:sp>
      <p:sp>
        <p:nvSpPr>
          <p:cNvPr id="24" name="Text 24"/>
          <p:cNvSpPr txBox="1"/>
          <p:nvPr/>
        </p:nvSpPr>
        <p:spPr>
          <a:xfrm>
            <a:off x="10314432" y="2221992"/>
            <a:ext cx="50292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>
              <a:buNone/>
            </a:pPr>
            <a:r>
              <a:rPr lang="en-US" sz="1800" b="1">
                <a:solidFill>
                  <a:srgbClr val="0D9488"/>
                </a:solidFill>
              </a:rPr>
              <a:t>5</a:t>
            </a:r>
            <a:endParaRPr lang="en-US" sz="1800"/>
          </a:p>
        </p:txBody>
      </p:sp>
      <p:sp>
        <p:nvSpPr>
          <p:cNvPr id="34" name="Text 34"/>
          <p:cNvSpPr txBox="1"/>
          <p:nvPr/>
        </p:nvSpPr>
        <p:spPr>
          <a:xfrm>
            <a:off x="10314432" y="2587752"/>
            <a:ext cx="1728216" cy="594360"/>
          </a:xfrm>
          <a:prstGeom prst="rect">
            <a:avLst/>
          </a:prstGeom>
          <a:noFill/>
        </p:spPr>
        <p:txBody>
          <a:bodyPr wrap="square" anchor="t"/>
          <a:lstStyle/>
          <a:p>
            <a:pPr>
              <a:buNone/>
            </a:pPr>
            <a:r>
              <a:rPr lang="en-US" sz="1600" b="1">
                <a:solidFill>
                  <a:srgbClr val="0F1B2D"/>
                </a:solidFill>
              </a:rPr>
              <a:t>Student contacts landlord</a:t>
            </a:r>
            <a:endParaRPr lang="en-US" sz="16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C"/>
          </a:solidFill>
          <a:ln>
            <a:noFill/>
          </a:ln>
        </p:spPr>
      </p:sp>
      <p:sp>
        <p:nvSpPr>
          <p:cNvPr id="3" name="Text 3"/>
          <p:cNvSpPr txBox="1"/>
          <p:nvPr/>
        </p:nvSpPr>
        <p:spPr>
          <a:xfrm>
            <a:off x="594360" y="384048"/>
            <a:ext cx="914400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>
              <a:buNone/>
            </a:pPr>
            <a:r>
              <a:rPr lang="en-US" sz="2800" b="1">
                <a:solidFill>
                  <a:srgbClr val="0F1B2D"/>
                </a:solidFill>
              </a:rPr>
              <a:t>Why This MVP Can Work</a:t>
            </a:r>
            <a:endParaRPr lang="en-US" sz="2800"/>
          </a:p>
        </p:txBody>
      </p:sp>
      <p:sp>
        <p:nvSpPr>
          <p:cNvPr id="4" name="Shape 4"/>
          <p:cNvSpPr/>
          <p:nvPr/>
        </p:nvSpPr>
        <p:spPr>
          <a:xfrm>
            <a:off x="713232" y="1325880"/>
            <a:ext cx="5257800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</p:sp>
      <p:sp>
        <p:nvSpPr>
          <p:cNvPr id="5" name="Shape 5"/>
          <p:cNvSpPr/>
          <p:nvPr/>
        </p:nvSpPr>
        <p:spPr>
          <a:xfrm>
            <a:off x="6217920" y="1325880"/>
            <a:ext cx="5257800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</p:sp>
      <p:sp>
        <p:nvSpPr>
          <p:cNvPr id="6" name="Text 6"/>
          <p:cNvSpPr txBox="1"/>
          <p:nvPr/>
        </p:nvSpPr>
        <p:spPr>
          <a:xfrm>
            <a:off x="1024128" y="1627632"/>
            <a:ext cx="429768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>
              <a:buNone/>
            </a:pPr>
            <a:r>
              <a:rPr lang="en-US" sz="2100" b="1">
                <a:solidFill>
                  <a:srgbClr val="0D9488"/>
                </a:solidFill>
              </a:rPr>
              <a:t>Strong wedge</a:t>
            </a:r>
            <a:endParaRPr lang="en-US" sz="2100"/>
          </a:p>
        </p:txBody>
      </p:sp>
      <p:sp>
        <p:nvSpPr>
          <p:cNvPr id="7" name="Text 7"/>
          <p:cNvSpPr txBox="1"/>
          <p:nvPr/>
        </p:nvSpPr>
        <p:spPr>
          <a:xfrm>
            <a:off x="6528816" y="1627632"/>
            <a:ext cx="429768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>
              <a:buNone/>
            </a:pPr>
            <a:r>
              <a:rPr lang="en-US" sz="2100" b="1">
                <a:solidFill>
                  <a:srgbClr val="0D9488"/>
                </a:solidFill>
              </a:rPr>
              <a:t>Focused launch</a:t>
            </a:r>
            <a:endParaRPr lang="en-US" sz="2100"/>
          </a:p>
        </p:txBody>
      </p:sp>
      <p:sp>
        <p:nvSpPr>
          <p:cNvPr id="20" name="Text 20"/>
          <p:cNvSpPr txBox="1"/>
          <p:nvPr/>
        </p:nvSpPr>
        <p:spPr>
          <a:xfrm>
            <a:off x="1051560" y="2148840"/>
            <a:ext cx="429768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marL="342900" indent="-171450">
              <a:buChar char="•"/>
            </a:pPr>
            <a:r>
              <a:rPr lang="en-US" sz="1500">
                <a:solidFill>
                  <a:srgbClr val="344054"/>
                </a:solidFill>
              </a:rPr>
              <a:t>Groups already exist</a:t>
            </a:r>
            <a:endParaRPr lang="en-US" sz="1500"/>
          </a:p>
        </p:txBody>
      </p:sp>
      <p:sp>
        <p:nvSpPr>
          <p:cNvPr id="21" name="Text 21"/>
          <p:cNvSpPr txBox="1"/>
          <p:nvPr/>
        </p:nvSpPr>
        <p:spPr>
          <a:xfrm>
            <a:off x="1051560" y="2651760"/>
            <a:ext cx="429768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marL="342900" indent="-171450">
              <a:buChar char="•"/>
            </a:pPr>
            <a:r>
              <a:rPr lang="en-US" sz="1500">
                <a:solidFill>
                  <a:srgbClr val="344054"/>
                </a:solidFill>
              </a:rPr>
              <a:t>Money coordination is painful</a:t>
            </a:r>
            <a:endParaRPr lang="en-US" sz="1500"/>
          </a:p>
        </p:txBody>
      </p:sp>
      <p:sp>
        <p:nvSpPr>
          <p:cNvPr id="22" name="Text 22"/>
          <p:cNvSpPr txBox="1"/>
          <p:nvPr/>
        </p:nvSpPr>
        <p:spPr>
          <a:xfrm>
            <a:off x="1051560" y="3154680"/>
            <a:ext cx="429768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marL="342900" indent="-171450">
              <a:buChar char="•"/>
            </a:pPr>
            <a:r>
              <a:rPr lang="en-US" sz="1500">
                <a:solidFill>
                  <a:srgbClr val="344054"/>
                </a:solidFill>
              </a:rPr>
              <a:t>Admins need structure</a:t>
            </a:r>
            <a:endParaRPr lang="en-US" sz="1500"/>
          </a:p>
        </p:txBody>
      </p:sp>
      <p:sp>
        <p:nvSpPr>
          <p:cNvPr id="23" name="Text 23"/>
          <p:cNvSpPr txBox="1"/>
          <p:nvPr/>
        </p:nvSpPr>
        <p:spPr>
          <a:xfrm>
            <a:off x="1051560" y="3657600"/>
            <a:ext cx="429768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marL="342900" indent="-171450">
              <a:buChar char="•"/>
            </a:pPr>
            <a:r>
              <a:rPr lang="en-US" sz="1500">
                <a:solidFill>
                  <a:srgbClr val="344054"/>
                </a:solidFill>
              </a:rPr>
              <a:t>Students understand WhatsApp-like flows</a:t>
            </a:r>
            <a:endParaRPr lang="en-US" sz="1500"/>
          </a:p>
        </p:txBody>
      </p:sp>
      <p:sp>
        <p:nvSpPr>
          <p:cNvPr id="40" name="Text 40"/>
          <p:cNvSpPr txBox="1"/>
          <p:nvPr/>
        </p:nvSpPr>
        <p:spPr>
          <a:xfrm>
            <a:off x="6556248" y="2148840"/>
            <a:ext cx="429768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marL="342900" indent="-171450">
              <a:buChar char="•"/>
            </a:pPr>
            <a:r>
              <a:rPr lang="en-US" sz="1500">
                <a:solidFill>
                  <a:srgbClr val="344054"/>
                </a:solidFill>
              </a:rPr>
              <a:t>Start with real groups</a:t>
            </a:r>
            <a:endParaRPr lang="en-US" sz="1500"/>
          </a:p>
        </p:txBody>
      </p:sp>
      <p:sp>
        <p:nvSpPr>
          <p:cNvPr id="41" name="Text 41"/>
          <p:cNvSpPr txBox="1"/>
          <p:nvPr/>
        </p:nvSpPr>
        <p:spPr>
          <a:xfrm>
            <a:off x="6556248" y="2651760"/>
            <a:ext cx="429768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marL="342900" indent="-171450">
              <a:buChar char="•"/>
            </a:pPr>
            <a:r>
              <a:rPr lang="en-US" sz="1500">
                <a:solidFill>
                  <a:srgbClr val="344054"/>
                </a:solidFill>
              </a:rPr>
              <a:t>Keep payments proof-based</a:t>
            </a:r>
            <a:endParaRPr lang="en-US" sz="1500"/>
          </a:p>
        </p:txBody>
      </p:sp>
      <p:sp>
        <p:nvSpPr>
          <p:cNvPr id="42" name="Text 42"/>
          <p:cNvSpPr txBox="1"/>
          <p:nvPr/>
        </p:nvSpPr>
        <p:spPr>
          <a:xfrm>
            <a:off x="6556248" y="3154680"/>
            <a:ext cx="429768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marL="342900" indent="-171450">
              <a:buChar char="•"/>
            </a:pPr>
            <a:r>
              <a:rPr lang="en-US" sz="1500">
                <a:solidFill>
                  <a:srgbClr val="344054"/>
                </a:solidFill>
              </a:rPr>
              <a:t>Keep Discover rooms-only</a:t>
            </a:r>
            <a:endParaRPr lang="en-US" sz="1500"/>
          </a:p>
        </p:txBody>
      </p:sp>
      <p:sp>
        <p:nvSpPr>
          <p:cNvPr id="43" name="Text 43"/>
          <p:cNvSpPr txBox="1"/>
          <p:nvPr/>
        </p:nvSpPr>
        <p:spPr>
          <a:xfrm>
            <a:off x="6556248" y="3657600"/>
            <a:ext cx="429768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marL="342900" indent="-171450">
              <a:buChar char="•"/>
            </a:pPr>
            <a:r>
              <a:rPr lang="en-US" sz="1500">
                <a:solidFill>
                  <a:srgbClr val="344054"/>
                </a:solidFill>
              </a:rPr>
              <a:t>Add split bills after payment setup</a:t>
            </a:r>
            <a:endParaRPr lang="en-US" sz="15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C"/>
          </a:solidFill>
          <a:ln>
            <a:noFill/>
          </a:ln>
        </p:spPr>
      </p:sp>
      <p:sp>
        <p:nvSpPr>
          <p:cNvPr id="3" name="Text 3"/>
          <p:cNvSpPr txBox="1"/>
          <p:nvPr/>
        </p:nvSpPr>
        <p:spPr>
          <a:xfrm>
            <a:off x="594360" y="384048"/>
            <a:ext cx="822960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>
              <a:buNone/>
            </a:pPr>
            <a:r>
              <a:rPr lang="en-US" sz="2800" b="1">
                <a:solidFill>
                  <a:srgbClr val="0F1B2D"/>
                </a:solidFill>
              </a:rPr>
              <a:t>Next Product Priorities</a:t>
            </a:r>
            <a:endParaRPr lang="en-US" sz="2800"/>
          </a:p>
        </p:txBody>
      </p:sp>
      <p:sp>
        <p:nvSpPr>
          <p:cNvPr id="4" name="Shape 4"/>
          <p:cNvSpPr/>
          <p:nvPr/>
        </p:nvSpPr>
        <p:spPr>
          <a:xfrm>
            <a:off x="594360" y="1051560"/>
            <a:ext cx="1188720" cy="73152"/>
          </a:xfrm>
          <a:prstGeom prst="rect">
            <a:avLst/>
          </a:prstGeom>
          <a:solidFill>
            <a:srgbClr val="0F1B2D"/>
          </a:solidFill>
          <a:ln>
            <a:noFill/>
          </a:ln>
        </p:spPr>
      </p:sp>
      <p:sp>
        <p:nvSpPr>
          <p:cNvPr id="10" name="Shape 10"/>
          <p:cNvSpPr/>
          <p:nvPr/>
        </p:nvSpPr>
        <p:spPr>
          <a:xfrm>
            <a:off x="731520" y="1417320"/>
            <a:ext cx="10698480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</p:sp>
      <p:sp>
        <p:nvSpPr>
          <p:cNvPr id="11" name="Text 11"/>
          <p:cNvSpPr txBox="1"/>
          <p:nvPr/>
        </p:nvSpPr>
        <p:spPr>
          <a:xfrm>
            <a:off x="987552" y="1545336"/>
            <a:ext cx="27432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>
              <a:buNone/>
            </a:pPr>
            <a:r>
              <a:rPr lang="en-US" sz="1700" b="1">
                <a:solidFill>
                  <a:srgbClr val="0F1B2D"/>
                </a:solidFill>
              </a:rPr>
              <a:t>1. Polish group payments</a:t>
            </a:r>
            <a:endParaRPr lang="en-US" sz="1700"/>
          </a:p>
        </p:txBody>
      </p:sp>
      <p:sp>
        <p:nvSpPr>
          <p:cNvPr id="12" name="Text 12"/>
          <p:cNvSpPr txBox="1"/>
          <p:nvPr/>
        </p:nvSpPr>
        <p:spPr>
          <a:xfrm>
            <a:off x="3246120" y="1545336"/>
            <a:ext cx="768096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>
              <a:buNone/>
            </a:pPr>
            <a:r>
              <a:rPr lang="en-US" sz="1500">
                <a:solidFill>
                  <a:srgbClr val="344054"/>
                </a:solidFill>
              </a:rPr>
              <a:t>Make collection cards and status pages cleaner and more reassuring.</a:t>
            </a:r>
            <a:endParaRPr lang="en-US" sz="1500"/>
          </a:p>
        </p:txBody>
      </p:sp>
      <p:sp>
        <p:nvSpPr>
          <p:cNvPr id="13" name="Shape 13"/>
          <p:cNvSpPr/>
          <p:nvPr/>
        </p:nvSpPr>
        <p:spPr>
          <a:xfrm>
            <a:off x="731520" y="2203704"/>
            <a:ext cx="10698480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</p:sp>
      <p:sp>
        <p:nvSpPr>
          <p:cNvPr id="14" name="Text 14"/>
          <p:cNvSpPr txBox="1"/>
          <p:nvPr/>
        </p:nvSpPr>
        <p:spPr>
          <a:xfrm>
            <a:off x="987552" y="2331720"/>
            <a:ext cx="27432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>
              <a:buNone/>
            </a:pPr>
            <a:r>
              <a:rPr lang="en-US" sz="1700" b="1">
                <a:solidFill>
                  <a:srgbClr val="0F1B2D"/>
                </a:solidFill>
              </a:rPr>
              <a:t>2. Test with real students</a:t>
            </a:r>
            <a:endParaRPr lang="en-US" sz="1700"/>
          </a:p>
        </p:txBody>
      </p:sp>
      <p:sp>
        <p:nvSpPr>
          <p:cNvPr id="15" name="Text 15"/>
          <p:cNvSpPr txBox="1"/>
          <p:nvPr/>
        </p:nvSpPr>
        <p:spPr>
          <a:xfrm>
            <a:off x="3246120" y="2331720"/>
            <a:ext cx="768096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>
              <a:buNone/>
            </a:pPr>
            <a:r>
              <a:rPr lang="en-US" sz="1500">
                <a:solidFill>
                  <a:srgbClr val="344054"/>
                </a:solidFill>
              </a:rPr>
              <a:t>Watch where they hesitate: joining, registering, paying, or finding details.</a:t>
            </a:r>
            <a:endParaRPr lang="en-US" sz="1500"/>
          </a:p>
        </p:txBody>
      </p:sp>
      <p:sp>
        <p:nvSpPr>
          <p:cNvPr id="16" name="Shape 16"/>
          <p:cNvSpPr/>
          <p:nvPr/>
        </p:nvSpPr>
        <p:spPr>
          <a:xfrm>
            <a:off x="731520" y="2990088"/>
            <a:ext cx="10698480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</p:sp>
      <p:sp>
        <p:nvSpPr>
          <p:cNvPr id="17" name="Text 17"/>
          <p:cNvSpPr txBox="1"/>
          <p:nvPr/>
        </p:nvSpPr>
        <p:spPr>
          <a:xfrm>
            <a:off x="987552" y="3118104"/>
            <a:ext cx="27432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>
              <a:buNone/>
            </a:pPr>
            <a:r>
              <a:rPr lang="en-US" sz="1700" b="1">
                <a:solidFill>
                  <a:srgbClr val="0F1B2D"/>
                </a:solidFill>
              </a:rPr>
              <a:t>3. Prepare live payments</a:t>
            </a:r>
            <a:endParaRPr lang="en-US" sz="1700"/>
          </a:p>
        </p:txBody>
      </p:sp>
      <p:sp>
        <p:nvSpPr>
          <p:cNvPr id="18" name="Text 18"/>
          <p:cNvSpPr txBox="1"/>
          <p:nvPr/>
        </p:nvSpPr>
        <p:spPr>
          <a:xfrm>
            <a:off x="3246120" y="3118104"/>
            <a:ext cx="768096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>
              <a:buNone/>
            </a:pPr>
            <a:r>
              <a:rPr lang="en-US" sz="1500">
                <a:solidFill>
                  <a:srgbClr val="344054"/>
                </a:solidFill>
              </a:rPr>
              <a:t>Keep mobile money marked coming soon until registration/API approval is ready.</a:t>
            </a:r>
            <a:endParaRPr lang="en-US" sz="1500"/>
          </a:p>
        </p:txBody>
      </p:sp>
      <p:sp>
        <p:nvSpPr>
          <p:cNvPr id="19" name="Shape 19"/>
          <p:cNvSpPr/>
          <p:nvPr/>
        </p:nvSpPr>
        <p:spPr>
          <a:xfrm>
            <a:off x="731520" y="3776472"/>
            <a:ext cx="10698480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</p:sp>
      <p:sp>
        <p:nvSpPr>
          <p:cNvPr id="20" name="Text 20"/>
          <p:cNvSpPr txBox="1"/>
          <p:nvPr/>
        </p:nvSpPr>
        <p:spPr>
          <a:xfrm>
            <a:off x="987552" y="3904487"/>
            <a:ext cx="27432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>
              <a:buNone/>
            </a:pPr>
            <a:r>
              <a:rPr lang="en-US" sz="1700" b="1">
                <a:solidFill>
                  <a:srgbClr val="0F1B2D"/>
                </a:solidFill>
              </a:rPr>
              <a:t>4. Build room supply</a:t>
            </a:r>
            <a:endParaRPr lang="en-US" sz="1700"/>
          </a:p>
        </p:txBody>
      </p:sp>
      <p:sp>
        <p:nvSpPr>
          <p:cNvPr id="21" name="Text 21"/>
          <p:cNvSpPr txBox="1"/>
          <p:nvPr/>
        </p:nvSpPr>
        <p:spPr>
          <a:xfrm>
            <a:off x="3246120" y="3904487"/>
            <a:ext cx="768096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>
              <a:buNone/>
            </a:pPr>
            <a:r>
              <a:rPr lang="en-US" sz="1500">
                <a:solidFill>
                  <a:srgbClr val="344054"/>
                </a:solidFill>
              </a:rPr>
              <a:t>Only open rooms broadly when enough listings exist to make Discover useful.</a:t>
            </a:r>
            <a:endParaRPr lang="en-US" sz="15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Kampasika">
  <a:themeElements>
    <a:clrScheme name="Kampasika">
      <a:dk1>
        <a:srgbClr val="0F1B2D"/>
      </a:dk1>
      <a:lt1>
        <a:srgbClr val="FFFFFF"/>
      </a:lt1>
      <a:dk2>
        <a:srgbClr val="344054"/>
      </a:dk2>
      <a:lt2>
        <a:srgbClr val="F7FAFC"/>
      </a:lt2>
      <a:accent1>
        <a:srgbClr val="06D6C7"/>
      </a:accent1>
      <a:accent2>
        <a:srgbClr val="0D9488"/>
      </a:accent2>
      <a:accent3>
        <a:srgbClr val="F59E0B"/>
      </a:accent3>
      <a:accent4>
        <a:srgbClr val="EF4444"/>
      </a:accent4>
      <a:accent5>
        <a:srgbClr val="667085"/>
      </a:accent5>
      <a:accent6>
        <a:srgbClr val="0F766E"/>
      </a:accent6>
      <a:hlink>
        <a:srgbClr val="0D9488"/>
      </a:hlink>
      <a:folHlink>
        <a:srgbClr val="0F766E"/>
      </a:folHlink>
    </a:clrScheme>
    <a:fontScheme name="Aptos">
      <a:majorFont>
        <a:latin typeface="Aptos Display"/>
      </a:majorFont>
      <a:minorFont>
        <a:latin typeface="Aptos"/>
      </a:minorFont>
    </a:fontScheme>
    <a:fmtScheme name="Kampasika">
      <a:fillStyleLst>
        <a:solidFill>
          <a:schemeClr val="phClr"/>
        </a:solidFill>
      </a:fillStyleLst>
      <a:lnStyleLst>
        <a:ln w="6350">
          <a:solidFill>
            <a:schemeClr val="phClr"/>
          </a:solidFill>
        </a:ln>
      </a:lnStyleLst>
      <a:effectStyleLst>
        <a:effectStyle>
          <a:effectLst/>
        </a:effectStyle>
      </a:effectStyleLst>
      <a:bgFillStyleLst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Codex</Application>
  <PresentationFormat>Widescreen</PresentationFormat>
  <Slides>10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KAMPASIKA Product Walkthrough</dc:title>
  <dc:creator>Codex</dc:creator>
  <cp:lastModifiedBy>Codex</cp:lastModifiedBy>
  <dcterms:created xsi:type="dcterms:W3CDTF">2026-06-22T10:57:05+00:00</dcterms:created>
  <dcterms:modified xsi:type="dcterms:W3CDTF">2026-06-22T10:57:05+00:00</dcterms:modified>
</cp:coreProperties>
</file>